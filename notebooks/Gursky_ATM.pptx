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73" r:id="rId14"/>
    <p:sldId id="269" r:id="rId15"/>
    <p:sldId id="274" r:id="rId16"/>
    <p:sldId id="272" r:id="rId17"/>
    <p:sldId id="270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90" autoAdjust="0"/>
  </p:normalViewPr>
  <p:slideViewPr>
    <p:cSldViewPr snapToGrid="0" snapToObjects="1">
      <p:cViewPr varScale="1">
        <p:scale>
          <a:sx n="94" d="100"/>
          <a:sy n="94" d="100"/>
        </p:scale>
        <p:origin x="201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DE429-772A-4170-BA38-DDB827359B5A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A5C2E7-B6FA-4DC9-8D4D-5ABF3B2C52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25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Бизнес-ценность: снижаем ошибки выбора точек, ускоряем запуск, улучшаем доступность пользователям.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5C2E7-B6FA-4DC9-8D4D-5ABF3B2C525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23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5C2E7-B6FA-4DC9-8D4D-5ABF3B2C525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8550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5C2E7-B6FA-4DC9-8D4D-5ABF3B2C525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326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точек с банкоматами видно значительное увеличение плотности объектов инфраструктуры, особенно по общему числу POI и кафе.</a:t>
            </a:r>
            <a:br>
              <a:rPr lang="ru-RU" dirty="0"/>
            </a:br>
            <a:r>
              <a:rPr lang="ru-RU" dirty="0"/>
              <a:t>плотность объектов вокруг точек. Видно, что там, где стоит банкомат, инфраструктуры в 2–3 раза больше: например, по суммарным POI — 22 против 7, по кафе — 5,5 против 1,3.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A5C2E7-B6FA-4DC9-8D4D-5ABF3B2C525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7435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CatBoost — Recall/ROC-AUC, RF — Precision/PR-AUC. Порог под бизнес-задачу.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Итоги</a:t>
            </a:r>
            <a:r>
              <a:rPr dirty="0"/>
              <a:t>, </a:t>
            </a:r>
            <a:r>
              <a:rPr dirty="0" err="1"/>
              <a:t>ограничения</a:t>
            </a:r>
            <a:r>
              <a:rPr dirty="0"/>
              <a:t>,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. </a:t>
            </a:r>
            <a:r>
              <a:rPr dirty="0" err="1"/>
              <a:t>Дальше</a:t>
            </a:r>
            <a:r>
              <a:rPr dirty="0"/>
              <a:t> — </a:t>
            </a:r>
            <a:r>
              <a:rPr dirty="0" err="1"/>
              <a:t>добавляем</a:t>
            </a:r>
            <a:r>
              <a:rPr dirty="0"/>
              <a:t> </a:t>
            </a:r>
            <a:r>
              <a:rPr dirty="0" err="1"/>
              <a:t>источники</a:t>
            </a:r>
            <a:r>
              <a:rPr dirty="0"/>
              <a:t> и </a:t>
            </a:r>
            <a:r>
              <a:rPr dirty="0" err="1"/>
              <a:t>делаем</a:t>
            </a:r>
            <a:r>
              <a:rPr dirty="0"/>
              <a:t> </a:t>
            </a:r>
            <a:r>
              <a:rPr dirty="0" err="1"/>
              <a:t>интерактивную</a:t>
            </a:r>
            <a:r>
              <a:rPr dirty="0"/>
              <a:t> </a:t>
            </a:r>
            <a:r>
              <a:rPr dirty="0" err="1"/>
              <a:t>карту</a:t>
            </a:r>
            <a:r>
              <a:rPr dirty="0"/>
              <a:t>/дашборд.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66041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28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695"/>
            <a:ext cx="9144000" cy="6852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77016" y="1200659"/>
            <a:ext cx="860137" cy="110880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969781" y="958753"/>
            <a:ext cx="5230687" cy="483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rgbClr val="000000"/>
              </a:buClr>
              <a:buSzPts val="2800"/>
            </a:pPr>
            <a:r>
              <a:rPr lang="ru-RU" sz="28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Центр непрерывного образования</a:t>
            </a:r>
            <a:endParaRPr sz="28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2226365" y="5287738"/>
            <a:ext cx="4572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ru-RU" sz="16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Аналитик данных</a:t>
            </a:r>
            <a:endParaRPr sz="16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ctr"/>
            <a:r>
              <a:rPr lang="ru-RU" sz="14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профессиональной переподготовки</a:t>
            </a:r>
            <a:endParaRPr sz="1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49" y="1093788"/>
            <a:ext cx="7879841" cy="296720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ru-RU" sz="4000" dirty="0"/>
              <a:t>Определение перспективных локаций для банкоматов с применением </a:t>
            </a:r>
            <a:r>
              <a:rPr lang="en-US" sz="4000" dirty="0"/>
              <a:t>ML </a:t>
            </a:r>
            <a:r>
              <a:rPr lang="ru-RU" sz="4000" dirty="0"/>
              <a:t>(на примере Москвы)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3520" y="4619624"/>
            <a:ext cx="3207257" cy="1038225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ru-RU" sz="1500" dirty="0"/>
              <a:t>Итоговый проект (НИУ ВШЭ, DA-10)</a:t>
            </a:r>
          </a:p>
          <a:p>
            <a:pPr algn="r">
              <a:lnSpc>
                <a:spcPct val="90000"/>
              </a:lnSpc>
            </a:pPr>
            <a:r>
              <a:rPr lang="ru-RU" sz="1500" dirty="0"/>
              <a:t>Гурский Антон Анатольевич</a:t>
            </a:r>
          </a:p>
          <a:p>
            <a:pPr algn="r">
              <a:lnSpc>
                <a:spcPct val="90000"/>
              </a:lnSpc>
            </a:pPr>
            <a:r>
              <a:rPr lang="ru-RU" sz="1500" dirty="0"/>
              <a:t>Руководитель: </a:t>
            </a:r>
            <a:r>
              <a:rPr lang="ru-RU" sz="1500" dirty="0" err="1"/>
              <a:t>Паточенко</a:t>
            </a:r>
            <a:r>
              <a:rPr lang="ru-RU" sz="1500" dirty="0"/>
              <a:t> Евгений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4331166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03304" y="2842186"/>
            <a:ext cx="54864" cy="29600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ru-RU" sz="3500"/>
              <a:t>Ценность задачи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ru-RU" sz="1900"/>
              <a:t>Банкам важно выбирать точки с максимальной отдачей — высокий трафик и рентабельность.</a:t>
            </a:r>
          </a:p>
          <a:p>
            <a:r>
              <a:rPr lang="ru-RU" sz="1900"/>
              <a:t>Инструмент ранжирует локации, снижает ошибки и ускоряет вывод банкоматов.</a:t>
            </a:r>
          </a:p>
          <a:p>
            <a:r>
              <a:rPr lang="ru-RU" sz="1900"/>
              <a:t>Повышение удобства для клиентов: банкоматы в шаговой доступности.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ru-RU" sz="3500"/>
              <a:t>Постановка задачи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ru-RU" sz="1900"/>
              <a:t>Цель: определить факторы и построить модель, предсказывающую перспективные точки.</a:t>
            </a:r>
          </a:p>
          <a:p>
            <a:r>
              <a:rPr lang="ru-RU" sz="1900"/>
              <a:t>Что делаем: собираем геоданные (точки интереса, банкоматы), очищаем, формируем признаки, обучаем модели.</a:t>
            </a:r>
          </a:p>
          <a:p>
            <a:r>
              <a:rPr lang="ru-RU" sz="1900"/>
              <a:t>Ответ: какие факторы сильнее всего влияют и где ставить банкоматы в первую очередь.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ru-RU" sz="3500"/>
              <a:t>Данные и источники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 dirty="0"/>
              <a:t>OpenStreetMap (OSM)</a:t>
            </a:r>
            <a:r>
              <a:rPr lang="ru-RU" sz="1900" dirty="0"/>
              <a:t> – открытые картографические данные</a:t>
            </a:r>
            <a:r>
              <a:rPr lang="en-US" sz="1900" dirty="0"/>
              <a:t>.</a:t>
            </a:r>
          </a:p>
          <a:p>
            <a:r>
              <a:rPr lang="ru-RU" sz="1900" dirty="0"/>
              <a:t>Слои: </a:t>
            </a:r>
            <a:endParaRPr lang="en-US" sz="1900" dirty="0"/>
          </a:p>
          <a:p>
            <a:r>
              <a:rPr lang="en-US" sz="1900" dirty="0"/>
              <a:t> – </a:t>
            </a:r>
            <a:r>
              <a:rPr lang="ru-RU" sz="1900" dirty="0"/>
              <a:t>банкоматы (</a:t>
            </a:r>
            <a:r>
              <a:rPr lang="en-US" sz="1900" dirty="0"/>
              <a:t>amenity=atm), </a:t>
            </a:r>
          </a:p>
          <a:p>
            <a:r>
              <a:rPr lang="en-US" sz="1900" dirty="0"/>
              <a:t> – </a:t>
            </a:r>
            <a:r>
              <a:rPr lang="ru-RU" sz="1900" dirty="0"/>
              <a:t>точек интереса (</a:t>
            </a:r>
            <a:r>
              <a:rPr lang="en-US" sz="1900" dirty="0"/>
              <a:t>POI  – </a:t>
            </a:r>
            <a:r>
              <a:rPr lang="ru-RU" sz="1900" dirty="0"/>
              <a:t>кафе, магазины, аптеки, остановки)</a:t>
            </a:r>
            <a:endParaRPr lang="en-US" sz="1900" dirty="0"/>
          </a:p>
          <a:p>
            <a:r>
              <a:rPr lang="en-US" sz="1900" dirty="0"/>
              <a:t> – </a:t>
            </a:r>
            <a:r>
              <a:rPr lang="ru-RU" sz="1900" dirty="0"/>
              <a:t>границы города.</a:t>
            </a:r>
          </a:p>
          <a:p>
            <a:r>
              <a:rPr lang="ru-RU" sz="1900" dirty="0"/>
              <a:t>Сохранение сырых и обработанных слоёв для воспроизводимости (</a:t>
            </a:r>
            <a:r>
              <a:rPr lang="en-US" sz="1900" dirty="0"/>
              <a:t>data/raw, data/processed).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ru-RU" sz="3500"/>
              <a:t>Инструменты и библиотеки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/>
              <a:t>Python: pandas, GeoPandas, Shapely, OSMnx, matplotlib.</a:t>
            </a:r>
          </a:p>
          <a:p>
            <a:r>
              <a:rPr lang="en-US" sz="1900"/>
              <a:t>ML: scikit-learn (Logistic Regression, Decision Tree, Random Forest), CatBoost.</a:t>
            </a:r>
          </a:p>
          <a:p>
            <a:r>
              <a:rPr lang="ru-RU" sz="1900"/>
              <a:t>Ноутбук со структурированными шагами: сбор → подготовка → признаки → модель.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000"/>
              <a:t>Методология: подготовка геоданных</a:t>
            </a:r>
          </a:p>
        </p:txBody>
      </p:sp>
      <p:sp>
        <p:nvSpPr>
          <p:cNvPr id="4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ru-RU" sz="1800"/>
              <a:t>Единая метрическая проекция (PSG:3857) — корректные расстояния и буферы.</a:t>
            </a:r>
          </a:p>
          <a:p>
            <a:r>
              <a:rPr lang="ru-RU" sz="1800"/>
              <a:t>Очистка дубликатов и пустых геометрий, нормализация атрибутов.</a:t>
            </a:r>
          </a:p>
          <a:p>
            <a:r>
              <a:rPr lang="ru-RU" sz="1800"/>
              <a:t>Контроль границ Москвы, визуальная проверка корректности выгрузок.</a:t>
            </a:r>
          </a:p>
        </p:txBody>
      </p:sp>
      <p:pic>
        <p:nvPicPr>
          <p:cNvPr id="7" name="Picture 4" descr="img_03.png">
            <a:extLst>
              <a:ext uri="{FF2B5EF4-FFF2-40B4-BE49-F238E27FC236}">
                <a16:creationId xmlns:a16="http://schemas.microsoft.com/office/drawing/2014/main" id="{553C3502-C25D-EC1B-04C2-D48B435F5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111" y="265953"/>
            <a:ext cx="4838137" cy="63260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0D01200-0224-43C5-AB38-FB4D16B73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879" y="830755"/>
            <a:ext cx="4701577" cy="124716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800"/>
              <a:t>Сетка кандидатов и целевая переменная</a:t>
            </a:r>
            <a:endParaRPr lang="ru-RU" sz="38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A44A4-A002-4A88-9FC9-1D0566C97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30758" y="43196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7D5C7B-DD16-401B-85CE-4AAA2A4F5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879" y="2935541"/>
            <a:ext cx="46634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86" y="2935541"/>
            <a:ext cx="4701577" cy="3047840"/>
          </a:xfrm>
        </p:spPr>
        <p:txBody>
          <a:bodyPr>
            <a:normAutofit fontScale="92500" lnSpcReduction="20000"/>
          </a:bodyPr>
          <a:lstStyle/>
          <a:p>
            <a:r>
              <a:rPr lang="ru-RU" sz="1900" dirty="0"/>
              <a:t>Регулярная сетка точек внутри МКАД — кандидаты для установки.</a:t>
            </a:r>
            <a:br>
              <a:rPr lang="en-US" sz="1900" dirty="0"/>
            </a:br>
            <a:endParaRPr lang="ru-RU" sz="1900" dirty="0"/>
          </a:p>
          <a:p>
            <a:r>
              <a:rPr lang="ru-RU" sz="1900" dirty="0"/>
              <a:t>Разметка: </a:t>
            </a:r>
            <a:endParaRPr lang="en-US" sz="1900" dirty="0"/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ru-RU" sz="1900" dirty="0"/>
              <a:t>реальные ATM</a:t>
            </a:r>
            <a:r>
              <a:rPr lang="en-US" sz="1900" dirty="0"/>
              <a:t> </a:t>
            </a:r>
            <a:r>
              <a:rPr lang="ru-RU" sz="1900" dirty="0"/>
              <a:t>=</a:t>
            </a:r>
            <a:r>
              <a:rPr lang="en-US" sz="1900" dirty="0"/>
              <a:t> 1 (</a:t>
            </a:r>
            <a:r>
              <a:rPr lang="ru-RU" sz="2000" dirty="0"/>
              <a:t>14,2%</a:t>
            </a:r>
            <a:r>
              <a:rPr lang="en-US" sz="1900" dirty="0"/>
              <a:t>)</a:t>
            </a:r>
          </a:p>
          <a:p>
            <a:pPr marL="0" indent="0">
              <a:buNone/>
            </a:pPr>
            <a:r>
              <a:rPr lang="en-US" sz="1900" dirty="0"/>
              <a:t>	</a:t>
            </a:r>
            <a:r>
              <a:rPr lang="ru-RU" sz="1900" dirty="0"/>
              <a:t>кандидаты без ATM</a:t>
            </a:r>
            <a:r>
              <a:rPr lang="en-US" sz="1900" dirty="0"/>
              <a:t> = 0 </a:t>
            </a:r>
            <a:r>
              <a:rPr lang="en-US" sz="1800" dirty="0"/>
              <a:t>(</a:t>
            </a:r>
            <a:r>
              <a:rPr lang="ru-RU" sz="1800" dirty="0"/>
              <a:t>85,8%</a:t>
            </a:r>
            <a:r>
              <a:rPr lang="en-US" sz="1800" dirty="0"/>
              <a:t>)</a:t>
            </a:r>
            <a:endParaRPr lang="en-US" sz="1900" dirty="0"/>
          </a:p>
          <a:p>
            <a:pPr marL="0" indent="0">
              <a:buNone/>
            </a:pPr>
            <a:endParaRPr lang="ru-RU" sz="1900" dirty="0"/>
          </a:p>
          <a:p>
            <a:r>
              <a:rPr lang="ru-RU" sz="1900" dirty="0"/>
              <a:t>Итог: </a:t>
            </a:r>
          </a:p>
          <a:p>
            <a:r>
              <a:rPr lang="ru-RU" sz="1900" dirty="0"/>
              <a:t>датасет с признаками доступности и дисбалансом классов (реальных банкоматов меньше).</a:t>
            </a:r>
          </a:p>
        </p:txBody>
      </p:sp>
      <p:pic>
        <p:nvPicPr>
          <p:cNvPr id="6" name="Picture 5" descr="img_06.png">
            <a:extLst>
              <a:ext uri="{FF2B5EF4-FFF2-40B4-BE49-F238E27FC236}">
                <a16:creationId xmlns:a16="http://schemas.microsoft.com/office/drawing/2014/main" id="{15F4C489-8BB1-223C-6254-66E15AE43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062" y="1837939"/>
            <a:ext cx="3833394" cy="46641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996BD2A-8F39-BDF0-18E3-04466C862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732" y="637709"/>
            <a:ext cx="1648055" cy="10288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9" name="Rectangle 106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71" name="Rectangle 107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ru-RU" sz="2800"/>
              <a:t>Признаки (</a:t>
            </a:r>
            <a:r>
              <a:rPr lang="en-US" sz="2800"/>
              <a:t>feature engineering)</a:t>
            </a: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ru-RU" sz="1600" dirty="0"/>
              <a:t>Радиусы доступности: 300 м и 500 м вокруг точки-кандидата.</a:t>
            </a:r>
          </a:p>
          <a:p>
            <a:r>
              <a:rPr lang="ru-RU" sz="1600" dirty="0"/>
              <a:t>Плотность инфраструктуры: кафе, магазины, аптеки, остановки, рестораны.</a:t>
            </a:r>
          </a:p>
          <a:p>
            <a:r>
              <a:rPr lang="ru-RU" sz="1600" dirty="0"/>
              <a:t>Суммарные показатели: POI</a:t>
            </a: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65B5587-686D-9815-EAA5-6B99F8F74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889829"/>
              </p:ext>
            </p:extLst>
          </p:nvPr>
        </p:nvGraphicFramePr>
        <p:xfrm>
          <a:off x="418338" y="3058157"/>
          <a:ext cx="8373620" cy="283566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945454">
                  <a:extLst>
                    <a:ext uri="{9D8B030D-6E8A-4147-A177-3AD203B41FA5}">
                      <a16:colId xmlns:a16="http://schemas.microsoft.com/office/drawing/2014/main" val="1159726757"/>
                    </a:ext>
                  </a:extLst>
                </a:gridCol>
                <a:gridCol w="1744753">
                  <a:extLst>
                    <a:ext uri="{9D8B030D-6E8A-4147-A177-3AD203B41FA5}">
                      <a16:colId xmlns:a16="http://schemas.microsoft.com/office/drawing/2014/main" val="4145805463"/>
                    </a:ext>
                  </a:extLst>
                </a:gridCol>
                <a:gridCol w="2443882">
                  <a:extLst>
                    <a:ext uri="{9D8B030D-6E8A-4147-A177-3AD203B41FA5}">
                      <a16:colId xmlns:a16="http://schemas.microsoft.com/office/drawing/2014/main" val="894856572"/>
                    </a:ext>
                  </a:extLst>
                </a:gridCol>
                <a:gridCol w="2239531">
                  <a:extLst>
                    <a:ext uri="{9D8B030D-6E8A-4147-A177-3AD203B41FA5}">
                      <a16:colId xmlns:a16="http://schemas.microsoft.com/office/drawing/2014/main" val="3409701981"/>
                    </a:ext>
                  </a:extLst>
                </a:gridCol>
              </a:tblGrid>
              <a:tr h="5349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Признак</a:t>
                      </a:r>
                    </a:p>
                  </a:txBody>
                  <a:tcPr marL="78561" marR="10332" marT="22446" marB="16834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Максимум</a:t>
                      </a:r>
                    </a:p>
                  </a:txBody>
                  <a:tcPr marL="78561" marR="10332" marT="22446" marB="16834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Среднее (без </a:t>
                      </a:r>
                      <a:r>
                        <a:rPr lang="en-US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ATM)</a:t>
                      </a:r>
                    </a:p>
                  </a:txBody>
                  <a:tcPr marL="78561" marR="10332" marT="22446" marB="16834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Среднее (с </a:t>
                      </a:r>
                      <a:r>
                        <a:rPr lang="en-US" sz="20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ATM)</a:t>
                      </a:r>
                    </a:p>
                  </a:txBody>
                  <a:tcPr marL="78561" marR="10332" marT="22446" marB="16834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5954205"/>
                  </a:ext>
                </a:extLst>
              </a:tr>
              <a:tr h="4601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POI, 500 </a:t>
                      </a: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м (все)</a:t>
                      </a:r>
                    </a:p>
                  </a:txBody>
                  <a:tcPr marL="78561" marR="10332" marT="22446" marB="16834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7,6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422781"/>
                  </a:ext>
                </a:extLst>
              </a:tr>
              <a:tr h="4601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POI, 300 </a:t>
                      </a: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м (все)</a:t>
                      </a:r>
                    </a:p>
                  </a:txBody>
                  <a:tcPr marL="78561" marR="10332" marT="22446" marB="16834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2,8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10,5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730960"/>
                  </a:ext>
                </a:extLst>
              </a:tr>
              <a:tr h="4601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Остановки, 500 м</a:t>
                      </a:r>
                    </a:p>
                  </a:txBody>
                  <a:tcPr marL="78561" marR="10332" marT="22446" marB="16834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2,6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5,1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119166"/>
                  </a:ext>
                </a:extLst>
              </a:tr>
              <a:tr h="4601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Магазины, 500 м</a:t>
                      </a:r>
                    </a:p>
                  </a:txBody>
                  <a:tcPr marL="78561" marR="10332" marT="22446" marB="16834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1,9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049460"/>
                  </a:ext>
                </a:extLst>
              </a:tr>
              <a:tr h="46014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Кафе, 500 м</a:t>
                      </a:r>
                    </a:p>
                  </a:txBody>
                  <a:tcPr marL="78561" marR="10332" marT="22446" marB="168344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1,3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5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5,5</a:t>
                      </a:r>
                    </a:p>
                  </a:txBody>
                  <a:tcPr marL="78561" marR="10332" marT="22446" marB="16834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033178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600"/>
              <a:t>Районы Москвы по плотности ATM</a:t>
            </a: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1600"/>
              <a:t>В центре города банкоматов значительно больше, чем на окраинах.</a:t>
            </a:r>
          </a:p>
          <a:p>
            <a:pPr>
              <a:lnSpc>
                <a:spcPct val="90000"/>
              </a:lnSpc>
            </a:pPr>
            <a:r>
              <a:rPr lang="ru-RU" sz="1600"/>
              <a:t>Топ-районы: Замоскворечье, Тверской, Арбат (2,5–4,2 банкомата/км²).</a:t>
            </a:r>
          </a:p>
          <a:p>
            <a:pPr>
              <a:lnSpc>
                <a:spcPct val="90000"/>
              </a:lnSpc>
            </a:pPr>
            <a:r>
              <a:rPr lang="ru-RU" sz="1600"/>
              <a:t>Анти-топ районы: Метрогородок, Алтуфьевский, Бескудниковский (0,05–0,13 банкомата/км²).</a:t>
            </a:r>
          </a:p>
          <a:p>
            <a:pPr>
              <a:lnSpc>
                <a:spcPct val="90000"/>
              </a:lnSpc>
            </a:pPr>
            <a:r>
              <a:rPr lang="ru-RU" sz="1600"/>
              <a:t>Метро: Курская — лидер по доступности (23 банкомата в радиусе 300 м)</a:t>
            </a:r>
          </a:p>
        </p:txBody>
      </p:sp>
      <p:pic>
        <p:nvPicPr>
          <p:cNvPr id="7" name="Picture 5" descr="img_09.png">
            <a:extLst>
              <a:ext uri="{FF2B5EF4-FFF2-40B4-BE49-F238E27FC236}">
                <a16:creationId xmlns:a16="http://schemas.microsoft.com/office/drawing/2014/main" id="{BA629B8B-FB90-B4A5-02C4-6DADCD1676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989"/>
          <a:stretch>
            <a:fillRect/>
          </a:stretch>
        </p:blipFill>
        <p:spPr>
          <a:xfrm>
            <a:off x="4142810" y="185093"/>
            <a:ext cx="4767237" cy="60084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ru-RU" sz="3500"/>
              <a:t>Модели для обучения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en-US" sz="1900" dirty="0"/>
              <a:t>Logistic Regression</a:t>
            </a:r>
            <a:r>
              <a:rPr lang="ru-RU" sz="1900" dirty="0"/>
              <a:t>: Простая и интерпретируемая модель, задаёт базовый уровень качества.</a:t>
            </a:r>
          </a:p>
          <a:p>
            <a:r>
              <a:rPr lang="en-US" sz="1900" dirty="0"/>
              <a:t>Decision Tree</a:t>
            </a:r>
            <a:r>
              <a:rPr lang="ru-RU" sz="1900" dirty="0"/>
              <a:t>: Иерархическая модель, легко объяснять, но склонна к переобучению.</a:t>
            </a:r>
          </a:p>
          <a:p>
            <a:r>
              <a:rPr lang="en-US" sz="1900" dirty="0"/>
              <a:t>Random Forest</a:t>
            </a:r>
            <a:r>
              <a:rPr lang="ru-RU" sz="1900" dirty="0"/>
              <a:t> : Ансамбль деревьев, даёт более устойчивые результаты, лучше </a:t>
            </a:r>
            <a:r>
              <a:rPr lang="en-US" sz="1900" dirty="0"/>
              <a:t>Precision.</a:t>
            </a:r>
          </a:p>
          <a:p>
            <a:r>
              <a:rPr lang="en-US" sz="1900" dirty="0"/>
              <a:t>CatBoost</a:t>
            </a:r>
            <a:r>
              <a:rPr lang="ru-RU" sz="1900" dirty="0"/>
              <a:t> : Градиентный </a:t>
            </a:r>
            <a:r>
              <a:rPr lang="ru-RU" sz="1900" dirty="0" err="1"/>
              <a:t>бустинг</a:t>
            </a:r>
            <a:r>
              <a:rPr lang="ru-RU" sz="1900" dirty="0"/>
              <a:t>, оптимизирован для категориальных и </a:t>
            </a:r>
            <a:r>
              <a:rPr lang="ru-RU" sz="1900" dirty="0" err="1"/>
              <a:t>дисбалансных</a:t>
            </a:r>
            <a:r>
              <a:rPr lang="ru-RU" sz="1900" dirty="0"/>
              <a:t> данных, показывает лучший </a:t>
            </a:r>
            <a:r>
              <a:rPr lang="en-US" sz="1900" dirty="0"/>
              <a:t>Recall </a:t>
            </a:r>
            <a:r>
              <a:rPr lang="ru-RU" sz="1900" dirty="0"/>
              <a:t>и </a:t>
            </a:r>
            <a:r>
              <a:rPr lang="en-US" sz="1900" dirty="0"/>
              <a:t>ROC-AUC.</a:t>
            </a:r>
            <a:endParaRPr lang="ru-RU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ru-RU" sz="3500" dirty="0"/>
              <a:t>Метрики оценивания моделей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ru-RU" sz="1900"/>
              <a:t>Accuracy – доля правильных предсказаний.</a:t>
            </a:r>
          </a:p>
          <a:p>
            <a:r>
              <a:rPr lang="ru-RU" sz="1900"/>
              <a:t>Precision – насколько модель точна в положительных предсказаниях.</a:t>
            </a:r>
          </a:p>
          <a:p>
            <a:r>
              <a:rPr lang="ru-RU" sz="1900"/>
              <a:t>Recall – насколько полно модель находит все положительные объекты.</a:t>
            </a:r>
          </a:p>
          <a:p>
            <a:r>
              <a:rPr lang="ru-RU" sz="1900"/>
              <a:t>F1-score – баланс между Precision и Recall.</a:t>
            </a:r>
          </a:p>
          <a:p>
            <a:r>
              <a:rPr lang="ru-RU" sz="1900"/>
              <a:t>ROC-AUC – способность модели различать классы на разных порогах.</a:t>
            </a:r>
          </a:p>
          <a:p>
            <a:r>
              <a:rPr lang="ru-RU" sz="1900"/>
              <a:t>PR-AUC – качество модели при несбалансированных классах (Precision–Recall).</a:t>
            </a:r>
          </a:p>
        </p:txBody>
      </p:sp>
    </p:spTree>
    <p:extLst>
      <p:ext uri="{BB962C8B-B14F-4D97-AF65-F5344CB8AC3E}">
        <p14:creationId xmlns:p14="http://schemas.microsoft.com/office/powerpoint/2010/main" val="1322703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6" name="Rectangle 8205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4700"/>
              <a:t>Матрица распределения признаков </a:t>
            </a:r>
          </a:p>
        </p:txBody>
      </p:sp>
      <p:sp>
        <p:nvSpPr>
          <p:cNvPr id="820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69" y="2071316"/>
            <a:ext cx="4000754" cy="4119172"/>
          </a:xfrm>
        </p:spPr>
        <p:txBody>
          <a:bodyPr anchor="t">
            <a:normAutofit/>
          </a:bodyPr>
          <a:lstStyle/>
          <a:p>
            <a:r>
              <a:rPr lang="ru-RU" sz="1900" dirty="0"/>
              <a:t>Сильнее всего с наличием банкомата связаны суммарные показатели POI: 300 м (0.50) и 500 м (0.46).</a:t>
            </a:r>
          </a:p>
          <a:p>
            <a:endParaRPr lang="ru-RU" sz="1900" dirty="0"/>
          </a:p>
          <a:p>
            <a:r>
              <a:rPr lang="ru-RU" sz="1900" dirty="0"/>
              <a:t>Дополнительно заметный сигнал дают аптеки, кафе и магазины (0.36–0.38).</a:t>
            </a:r>
          </a:p>
          <a:p>
            <a:endParaRPr lang="ru-RU" sz="1900" dirty="0"/>
          </a:p>
          <a:p>
            <a:r>
              <a:rPr lang="ru-RU" sz="1900" dirty="0"/>
              <a:t>Остановки и рестораны показывают более слабую, но стабильную зависимость.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42BADA4-12C4-3CDB-5235-4EC67FE506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80"/>
          <a:stretch>
            <a:fillRect/>
          </a:stretch>
        </p:blipFill>
        <p:spPr bwMode="auto">
          <a:xfrm>
            <a:off x="4838446" y="1911493"/>
            <a:ext cx="4000754" cy="410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859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8" name="Rectangle 5134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anchor="ctr">
            <a:normAutofit/>
          </a:bodyPr>
          <a:lstStyle/>
          <a:p>
            <a:r>
              <a:rPr lang="ru-RU" sz="3300" dirty="0"/>
              <a:t>Результаты моделирования — метрики</a:t>
            </a:r>
          </a:p>
        </p:txBody>
      </p:sp>
      <p:sp>
        <p:nvSpPr>
          <p:cNvPr id="5137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947" y="457200"/>
            <a:ext cx="4505706" cy="192938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ru-RU" sz="1300"/>
              <a:t>Сравнение четырёх моделей на отложенной выборке.</a:t>
            </a:r>
          </a:p>
          <a:p>
            <a:pPr>
              <a:lnSpc>
                <a:spcPct val="90000"/>
              </a:lnSpc>
            </a:pPr>
            <a:r>
              <a:rPr lang="ru-RU" sz="1300"/>
              <a:t>CatBoost — лучший Recall (0.754) и высокий ROC-AUC (0.868).</a:t>
            </a:r>
          </a:p>
          <a:p>
            <a:pPr>
              <a:lnSpc>
                <a:spcPct val="90000"/>
              </a:lnSpc>
            </a:pPr>
            <a:r>
              <a:rPr lang="ru-RU" sz="1300"/>
              <a:t>Random Forest — лучший Precision (0.613) и PR-AUC (0.557).</a:t>
            </a:r>
          </a:p>
          <a:p>
            <a:pPr>
              <a:lnSpc>
                <a:spcPct val="90000"/>
              </a:lnSpc>
            </a:pPr>
            <a:r>
              <a:rPr lang="ru-RU" sz="1300"/>
              <a:t>Выбор метрик зависит от бизнес-приоритета: покрытие перспективных точек или точность предсказаний.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9CDA9F83-0C0F-B5E5-98DF-A9EAEC83A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9758" y="3132469"/>
            <a:ext cx="4101084" cy="25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4A19A029-662A-10B1-9EB1-632C98677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275924"/>
              </p:ext>
            </p:extLst>
          </p:nvPr>
        </p:nvGraphicFramePr>
        <p:xfrm>
          <a:off x="4690872" y="3364159"/>
          <a:ext cx="4101087" cy="208954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690954">
                  <a:extLst>
                    <a:ext uri="{9D8B030D-6E8A-4147-A177-3AD203B41FA5}">
                      <a16:colId xmlns:a16="http://schemas.microsoft.com/office/drawing/2014/main" val="1576469004"/>
                    </a:ext>
                  </a:extLst>
                </a:gridCol>
                <a:gridCol w="769057">
                  <a:extLst>
                    <a:ext uri="{9D8B030D-6E8A-4147-A177-3AD203B41FA5}">
                      <a16:colId xmlns:a16="http://schemas.microsoft.com/office/drawing/2014/main" val="686643240"/>
                    </a:ext>
                  </a:extLst>
                </a:gridCol>
                <a:gridCol w="769058">
                  <a:extLst>
                    <a:ext uri="{9D8B030D-6E8A-4147-A177-3AD203B41FA5}">
                      <a16:colId xmlns:a16="http://schemas.microsoft.com/office/drawing/2014/main" val="3449713388"/>
                    </a:ext>
                  </a:extLst>
                </a:gridCol>
                <a:gridCol w="557468">
                  <a:extLst>
                    <a:ext uri="{9D8B030D-6E8A-4147-A177-3AD203B41FA5}">
                      <a16:colId xmlns:a16="http://schemas.microsoft.com/office/drawing/2014/main" val="329478297"/>
                    </a:ext>
                  </a:extLst>
                </a:gridCol>
                <a:gridCol w="384221">
                  <a:extLst>
                    <a:ext uri="{9D8B030D-6E8A-4147-A177-3AD203B41FA5}">
                      <a16:colId xmlns:a16="http://schemas.microsoft.com/office/drawing/2014/main" val="3416278124"/>
                    </a:ext>
                  </a:extLst>
                </a:gridCol>
                <a:gridCol w="477945">
                  <a:extLst>
                    <a:ext uri="{9D8B030D-6E8A-4147-A177-3AD203B41FA5}">
                      <a16:colId xmlns:a16="http://schemas.microsoft.com/office/drawing/2014/main" val="3120371907"/>
                    </a:ext>
                  </a:extLst>
                </a:gridCol>
                <a:gridCol w="452384">
                  <a:extLst>
                    <a:ext uri="{9D8B030D-6E8A-4147-A177-3AD203B41FA5}">
                      <a16:colId xmlns:a16="http://schemas.microsoft.com/office/drawing/2014/main" val="3680099025"/>
                    </a:ext>
                  </a:extLst>
                </a:gridCol>
              </a:tblGrid>
              <a:tr h="53242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Модель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Accuracy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Precision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Recall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F1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ROC-AUC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3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PR-AUC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872029"/>
                  </a:ext>
                </a:extLst>
              </a:tr>
              <a:tr h="4233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Logistic Regression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0.833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0.444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0.695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0.541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0.876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0.578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646044"/>
                  </a:ext>
                </a:extLst>
              </a:tr>
              <a:tr h="4233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Decision Tree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0.763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0.351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0.786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0.486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0.843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0.449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795924"/>
                  </a:ext>
                </a:extLst>
              </a:tr>
              <a:tr h="42336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Random Forest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0.879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0.613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0.408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0.490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0.833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0.557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397549"/>
                  </a:ext>
                </a:extLst>
              </a:tr>
              <a:tr h="28703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CatBoost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0.802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0.397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0.754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0.521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0.868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9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0.536</a:t>
                      </a:r>
                    </a:p>
                  </a:txBody>
                  <a:tcPr marL="5230" marR="5230" marT="63135" marB="5485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0512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en-US" sz="3500" dirty="0"/>
              <a:t>ML: </a:t>
            </a:r>
            <a:r>
              <a:rPr lang="ru-RU" sz="3500" dirty="0"/>
              <a:t>выводы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 fontScale="85000" lnSpcReduction="10000"/>
          </a:bodyPr>
          <a:lstStyle/>
          <a:p>
            <a:r>
              <a:rPr lang="ru-RU" sz="1900" dirty="0"/>
              <a:t>Протестированы 4 модели:</a:t>
            </a:r>
          </a:p>
          <a:p>
            <a:r>
              <a:rPr lang="ru-RU" sz="1900" dirty="0"/>
              <a:t>• </a:t>
            </a:r>
            <a:r>
              <a:rPr lang="en-US" sz="1900" dirty="0"/>
              <a:t>Logistic Regression — </a:t>
            </a:r>
            <a:r>
              <a:rPr lang="ru-RU" sz="1900" dirty="0"/>
              <a:t>сбалансированная, но с низкой точностью.</a:t>
            </a:r>
          </a:p>
          <a:p>
            <a:r>
              <a:rPr lang="ru-RU" sz="1900" dirty="0"/>
              <a:t>• </a:t>
            </a:r>
            <a:r>
              <a:rPr lang="en-US" sz="1900" dirty="0"/>
              <a:t>Decision Tree — </a:t>
            </a:r>
            <a:r>
              <a:rPr lang="ru-RU" sz="1900" dirty="0"/>
              <a:t>простая, повышает </a:t>
            </a:r>
            <a:r>
              <a:rPr lang="en-US" sz="1900" dirty="0"/>
              <a:t>Recall, </a:t>
            </a:r>
            <a:r>
              <a:rPr lang="ru-RU" sz="1900" dirty="0"/>
              <a:t>но менее устойчива.</a:t>
            </a:r>
          </a:p>
          <a:p>
            <a:r>
              <a:rPr lang="ru-RU" sz="1900" dirty="0"/>
              <a:t>• </a:t>
            </a:r>
            <a:r>
              <a:rPr lang="en-US" sz="1900" dirty="0"/>
              <a:t>Random Forest — </a:t>
            </a:r>
            <a:r>
              <a:rPr lang="ru-RU" sz="1900" dirty="0"/>
              <a:t>лучшая точность и </a:t>
            </a:r>
            <a:r>
              <a:rPr lang="en-US" sz="1900" dirty="0"/>
              <a:t>Accuracy, </a:t>
            </a:r>
            <a:r>
              <a:rPr lang="ru-RU" sz="1900" dirty="0"/>
              <a:t>но низкий </a:t>
            </a:r>
            <a:r>
              <a:rPr lang="en-US" sz="1900" dirty="0"/>
              <a:t>Recall.</a:t>
            </a:r>
          </a:p>
          <a:p>
            <a:r>
              <a:rPr lang="en-US" sz="1900" dirty="0"/>
              <a:t>• CatBoost — </a:t>
            </a:r>
            <a:r>
              <a:rPr lang="ru-RU" sz="1900" dirty="0"/>
              <a:t>лучший </a:t>
            </a:r>
            <a:r>
              <a:rPr lang="en-US" sz="1900" dirty="0"/>
              <a:t>Recall </a:t>
            </a:r>
            <a:r>
              <a:rPr lang="ru-RU" sz="1900" dirty="0"/>
              <a:t>и </a:t>
            </a:r>
            <a:r>
              <a:rPr lang="en-US" sz="1900" dirty="0"/>
              <a:t>ROC-AUC, </a:t>
            </a:r>
            <a:r>
              <a:rPr lang="ru-RU" sz="1900" dirty="0"/>
              <a:t>хорошо находит перспективные точки.</a:t>
            </a:r>
          </a:p>
          <a:p>
            <a:endParaRPr lang="ru-RU" sz="1900" dirty="0"/>
          </a:p>
          <a:p>
            <a:r>
              <a:rPr lang="ru-RU" sz="1900" dirty="0"/>
              <a:t>Выбор модели зависит от приоритета:</a:t>
            </a:r>
          </a:p>
          <a:p>
            <a:r>
              <a:rPr lang="ru-RU" sz="1900" dirty="0"/>
              <a:t>• интерпретация — </a:t>
            </a:r>
            <a:r>
              <a:rPr lang="en-US" sz="1900" dirty="0"/>
              <a:t>Logistic Regression / Decision Tree;</a:t>
            </a:r>
          </a:p>
          <a:p>
            <a:r>
              <a:rPr lang="en-US" sz="1900" dirty="0"/>
              <a:t>• </a:t>
            </a:r>
            <a:r>
              <a:rPr lang="ru-RU" sz="1900" dirty="0"/>
              <a:t>высокая точность — </a:t>
            </a:r>
            <a:r>
              <a:rPr lang="en-US" sz="1900" dirty="0"/>
              <a:t>Random Forest;</a:t>
            </a:r>
          </a:p>
          <a:p>
            <a:r>
              <a:rPr lang="en-US" sz="1900" dirty="0"/>
              <a:t>• </a:t>
            </a:r>
            <a:r>
              <a:rPr lang="ru-RU" sz="1900" dirty="0"/>
              <a:t>максимальный охват — </a:t>
            </a:r>
            <a:r>
              <a:rPr lang="en-US" sz="1900" dirty="0"/>
              <a:t>CatBoost.</a:t>
            </a:r>
          </a:p>
          <a:p>
            <a:endParaRPr lang="en-US" sz="1900" dirty="0"/>
          </a:p>
          <a:p>
            <a:r>
              <a:rPr lang="ru-RU" sz="1900" dirty="0"/>
              <a:t>Итог: насыщенность инфраструктурой (</a:t>
            </a:r>
            <a:r>
              <a:rPr lang="en-US" sz="1900" dirty="0"/>
              <a:t>POI, </a:t>
            </a:r>
            <a:r>
              <a:rPr lang="ru-RU" sz="1900" dirty="0"/>
              <a:t>аптеки, магазины, остановки) — ключевой фактор размещения банкоматов.</a:t>
            </a:r>
          </a:p>
        </p:txBody>
      </p:sp>
    </p:spTree>
    <p:extLst>
      <p:ext uri="{BB962C8B-B14F-4D97-AF65-F5344CB8AC3E}">
        <p14:creationId xmlns:p14="http://schemas.microsoft.com/office/powerpoint/2010/main" val="599064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5" name="Rectangle 6150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40080"/>
            <a:ext cx="3614166" cy="1481328"/>
          </a:xfrm>
        </p:spPr>
        <p:txBody>
          <a:bodyPr anchor="b">
            <a:normAutofit/>
          </a:bodyPr>
          <a:lstStyle/>
          <a:p>
            <a:r>
              <a:rPr lang="ru-RU" sz="4300"/>
              <a:t>Визуализации и аналитика</a:t>
            </a:r>
          </a:p>
        </p:txBody>
      </p:sp>
      <p:sp>
        <p:nvSpPr>
          <p:cNvPr id="6156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660904"/>
            <a:ext cx="3614166" cy="3547872"/>
          </a:xfrm>
        </p:spPr>
        <p:txBody>
          <a:bodyPr anchor="t">
            <a:normAutofit lnSpcReduction="10000"/>
          </a:bodyPr>
          <a:lstStyle/>
          <a:p>
            <a:r>
              <a:rPr lang="ru-RU" sz="1900" dirty="0"/>
              <a:t>На карте Москвы показаны предсказанные вероятности наличия банкомата (CatBoost).</a:t>
            </a:r>
          </a:p>
          <a:p>
            <a:r>
              <a:rPr lang="ru-RU" sz="1900" dirty="0"/>
              <a:t>Тёмные зоны соответствуют районам с высокой вероятностью — в основном центр и крупные транспортные узлы.</a:t>
            </a:r>
          </a:p>
          <a:p>
            <a:r>
              <a:rPr lang="ru-RU" sz="1900" dirty="0"/>
              <a:t>Светлые зоны отражают низкую вероятность, то есть «пустые» или жилые районы.</a:t>
            </a:r>
          </a:p>
          <a:p>
            <a:pPr marL="0" indent="0">
              <a:buNone/>
            </a:pPr>
            <a:endParaRPr lang="ru-RU" sz="1900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CB58EE3-7863-9453-208C-F24003AA2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4286" y="1191718"/>
            <a:ext cx="4094226" cy="44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225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0"/>
            <a:ext cx="8375586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/>
          <a:p>
            <a:r>
              <a:rPr lang="ru-RU" sz="3500"/>
              <a:t>Заключение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758952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81943"/>
            <a:ext cx="7626096" cy="3695020"/>
          </a:xfrm>
        </p:spPr>
        <p:txBody>
          <a:bodyPr>
            <a:normAutofit/>
          </a:bodyPr>
          <a:lstStyle/>
          <a:p>
            <a:r>
              <a:rPr lang="ru-RU" sz="1900" dirty="0"/>
              <a:t>Подтверждена связь инфраструктуры и наличия банкоматов; признаки адекватны.</a:t>
            </a:r>
          </a:p>
          <a:p>
            <a:r>
              <a:rPr lang="ru-RU" sz="1900" dirty="0"/>
              <a:t>Модели дают пригодное ранжирование: CatBoost — максимум </a:t>
            </a:r>
            <a:r>
              <a:rPr lang="ru-RU" sz="1900" dirty="0" err="1"/>
              <a:t>Recall</a:t>
            </a:r>
            <a:r>
              <a:rPr lang="ru-RU" sz="1900" dirty="0"/>
              <a:t>/ROC-AUC, RF — Precision/PR-AUC.</a:t>
            </a:r>
          </a:p>
          <a:p>
            <a:r>
              <a:rPr lang="ru-RU" sz="1900" dirty="0"/>
              <a:t>Карта показывает кластеры у транспорта; анти-топы — зоны для пилотов.</a:t>
            </a:r>
          </a:p>
          <a:p>
            <a:r>
              <a:rPr lang="ru-RU" sz="1900" dirty="0"/>
              <a:t>Дальнейшее развитие: новые источники (население, пассажиропотоки), дообучение, интерактивный дашборд.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1021</Words>
  <Application>Microsoft Office PowerPoint</Application>
  <PresentationFormat>Экран (4:3)</PresentationFormat>
  <Paragraphs>159</Paragraphs>
  <Slides>17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Roboto</vt:lpstr>
      <vt:lpstr>Office Theme</vt:lpstr>
      <vt:lpstr>Презентация PowerPoint</vt:lpstr>
      <vt:lpstr>Определение перспективных локаций для банкоматов с применением ML (на примере Москвы)</vt:lpstr>
      <vt:lpstr>Ценность задачи</vt:lpstr>
      <vt:lpstr>Постановка задачи</vt:lpstr>
      <vt:lpstr>Данные и источники</vt:lpstr>
      <vt:lpstr>Инструменты и библиотеки</vt:lpstr>
      <vt:lpstr>Методология: подготовка геоданных</vt:lpstr>
      <vt:lpstr>Сетка кандидатов и целевая переменная</vt:lpstr>
      <vt:lpstr>Признаки (feature engineering)</vt:lpstr>
      <vt:lpstr>Районы Москвы по плотности ATM</vt:lpstr>
      <vt:lpstr>Модели для обучения</vt:lpstr>
      <vt:lpstr>Метрики оценивания моделей</vt:lpstr>
      <vt:lpstr>Матрица распределения признаков </vt:lpstr>
      <vt:lpstr>Результаты моделирования — метрики</vt:lpstr>
      <vt:lpstr>ML: выводы</vt:lpstr>
      <vt:lpstr>Визуализации и аналитика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Гурский Антон Анатольевич</dc:creator>
  <cp:keywords/>
  <dc:description>generated using python-pptx</dc:description>
  <cp:lastModifiedBy>Автор1</cp:lastModifiedBy>
  <cp:revision>11</cp:revision>
  <dcterms:created xsi:type="dcterms:W3CDTF">2013-01-27T09:14:16Z</dcterms:created>
  <dcterms:modified xsi:type="dcterms:W3CDTF">2025-10-02T18:01:19Z</dcterms:modified>
  <cp:category/>
</cp:coreProperties>
</file>