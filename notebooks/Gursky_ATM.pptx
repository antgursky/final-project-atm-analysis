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75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8" r:id="rId13"/>
    <p:sldId id="273" r:id="rId14"/>
    <p:sldId id="269" r:id="rId15"/>
    <p:sldId id="274" r:id="rId16"/>
    <p:sldId id="272" r:id="rId17"/>
    <p:sldId id="270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D083AE6-46FA-4A59-8FB0-9F97EB10719F}" styleName="Светлый стиль 3 — акцент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DA37D80-6434-44D0-A028-1B22A696006F}" styleName="Светлый стиль 3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Светлый стиль 3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Средний стиль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890" autoAdjust="0"/>
  </p:normalViewPr>
  <p:slideViewPr>
    <p:cSldViewPr snapToGrid="0" snapToObjects="1">
      <p:cViewPr varScale="1">
        <p:scale>
          <a:sx n="94" d="100"/>
          <a:sy n="94" d="100"/>
        </p:scale>
        <p:origin x="201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DE429-772A-4170-BA38-DDB827359B5A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A5C2E7-B6FA-4DC9-8D4D-5ABF3B2C52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6256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ru-RU"/>
          </a:p>
        </p:txBody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Бизнес-ценность: снижаем ошибки выбора точек, ускоряем запуск, улучшаем доступность пользователям.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5C2E7-B6FA-4DC9-8D4D-5ABF3B2C5250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58233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5C2E7-B6FA-4DC9-8D4D-5ABF3B2C5250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18550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5C2E7-B6FA-4DC9-8D4D-5ABF3B2C5250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3265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точек с банкоматами видно значительное увеличение плотности объектов инфраструктуры, особенно по общему числу POI и кафе.</a:t>
            </a:r>
            <a:br>
              <a:rPr lang="ru-RU" dirty="0"/>
            </a:br>
            <a:r>
              <a:rPr lang="ru-RU" dirty="0"/>
              <a:t>плотность объектов вокруг точек. Видно, что там, где стоит банкомат, инфраструктуры в 2–3 раза больше: например, по суммарным POI — 22 против 7, по кафе — 5,5 против 1,3.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5C2E7-B6FA-4DC9-8D4D-5ABF3B2C5250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74358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CatBoost — Recall/ROC-AUC, RF — Precision/PR-AUC. Порог под бизнес-задачу.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Итоги</a:t>
            </a:r>
            <a:r>
              <a:rPr dirty="0"/>
              <a:t>, </a:t>
            </a:r>
            <a:r>
              <a:rPr dirty="0" err="1"/>
              <a:t>ограничения</a:t>
            </a:r>
            <a:r>
              <a:rPr dirty="0"/>
              <a:t>, </a:t>
            </a:r>
            <a:r>
              <a:rPr dirty="0" err="1"/>
              <a:t>план</a:t>
            </a:r>
            <a:r>
              <a:rPr dirty="0"/>
              <a:t> </a:t>
            </a:r>
            <a:r>
              <a:rPr dirty="0" err="1"/>
              <a:t>развития</a:t>
            </a:r>
            <a:r>
              <a:rPr dirty="0"/>
              <a:t>. </a:t>
            </a:r>
            <a:r>
              <a:rPr dirty="0" err="1"/>
              <a:t>Дальше</a:t>
            </a:r>
            <a:r>
              <a:rPr dirty="0"/>
              <a:t> — </a:t>
            </a:r>
            <a:r>
              <a:rPr dirty="0" err="1"/>
              <a:t>добавляем</a:t>
            </a:r>
            <a:r>
              <a:rPr dirty="0"/>
              <a:t> </a:t>
            </a:r>
            <a:r>
              <a:rPr dirty="0" err="1"/>
              <a:t>источники</a:t>
            </a:r>
            <a:r>
              <a:rPr dirty="0"/>
              <a:t> и </a:t>
            </a:r>
            <a:r>
              <a:rPr dirty="0" err="1"/>
              <a:t>делаем</a:t>
            </a:r>
            <a:r>
              <a:rPr dirty="0"/>
              <a:t> </a:t>
            </a:r>
            <a:r>
              <a:rPr dirty="0" err="1"/>
              <a:t>интерактивную</a:t>
            </a:r>
            <a:r>
              <a:rPr dirty="0"/>
              <a:t> </a:t>
            </a:r>
            <a:r>
              <a:rPr dirty="0" err="1"/>
              <a:t>карту</a:t>
            </a:r>
            <a:r>
              <a:rPr dirty="0"/>
              <a:t>/дашборд.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60416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4284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5695"/>
            <a:ext cx="9144000" cy="685230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77016" y="1200659"/>
            <a:ext cx="860137" cy="1108802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1969781" y="958753"/>
            <a:ext cx="5230687" cy="483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>
              <a:buClr>
                <a:srgbClr val="000000"/>
              </a:buClr>
              <a:buSzPts val="2800"/>
            </a:pPr>
            <a:r>
              <a:rPr lang="ru-RU" sz="28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Центр непрерывного образования</a:t>
            </a:r>
            <a:endParaRPr sz="28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" name="Google Shape;58;p13"/>
          <p:cNvSpPr/>
          <p:nvPr/>
        </p:nvSpPr>
        <p:spPr>
          <a:xfrm>
            <a:off x="2226365" y="5287738"/>
            <a:ext cx="4572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/>
            <a:r>
              <a:rPr lang="ru-RU" sz="1600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Аналитик данных</a:t>
            </a:r>
            <a:endParaRPr sz="1600" b="1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algn="ctr"/>
            <a:r>
              <a:rPr lang="ru-RU" sz="14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программа профессиональной переподготовки</a:t>
            </a:r>
            <a:endParaRPr sz="10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8649" y="1093788"/>
            <a:ext cx="7879841" cy="2967208"/>
          </a:xfrm>
        </p:spPr>
        <p:txBody>
          <a:bodyPr>
            <a:normAutofit/>
          </a:bodyPr>
          <a:lstStyle/>
          <a:p>
            <a:pPr algn="l">
              <a:lnSpc>
                <a:spcPct val="90000"/>
              </a:lnSpc>
            </a:pPr>
            <a:r>
              <a:rPr lang="ru-RU" sz="4000" dirty="0"/>
              <a:t>Определение перспективных локаций для банкоматов с применением </a:t>
            </a:r>
            <a:r>
              <a:rPr lang="en-US" sz="4000" dirty="0"/>
              <a:t>ML </a:t>
            </a:r>
            <a:r>
              <a:rPr lang="ru-RU" sz="4000" dirty="0"/>
              <a:t>(на примере Москвы)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303520" y="4619624"/>
            <a:ext cx="3207257" cy="10382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</a:pPr>
            <a:r>
              <a:rPr lang="ru-RU" sz="1500" dirty="0"/>
              <a:t>Итоговый проект (НИУ ВШЭ, DA-10)</a:t>
            </a:r>
          </a:p>
          <a:p>
            <a:pPr algn="r">
              <a:lnSpc>
                <a:spcPct val="90000"/>
              </a:lnSpc>
            </a:pPr>
            <a:r>
              <a:rPr lang="ru-RU" sz="1500" dirty="0"/>
              <a:t>Гурский Антон Анатольевич</a:t>
            </a:r>
          </a:p>
          <a:p>
            <a:pPr algn="r">
              <a:lnSpc>
                <a:spcPct val="90000"/>
              </a:lnSpc>
            </a:pPr>
            <a:r>
              <a:rPr lang="ru-RU" sz="1500" dirty="0"/>
              <a:t>Руководитель: Паточенко Евгений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0936" y="4331166"/>
            <a:ext cx="7879842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003304" y="2842186"/>
            <a:ext cx="54864" cy="296008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0"/>
            <a:ext cx="8375586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196" y="0"/>
            <a:ext cx="836676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6676" y="548640"/>
            <a:ext cx="7626096" cy="1179576"/>
          </a:xfrm>
        </p:spPr>
        <p:txBody>
          <a:bodyPr>
            <a:normAutofit/>
          </a:bodyPr>
          <a:lstStyle/>
          <a:p>
            <a:r>
              <a:rPr lang="ru-RU" sz="3500"/>
              <a:t>Ценность задачи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758952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76" y="2481943"/>
            <a:ext cx="7626096" cy="3695020"/>
          </a:xfrm>
        </p:spPr>
        <p:txBody>
          <a:bodyPr>
            <a:normAutofit/>
          </a:bodyPr>
          <a:lstStyle/>
          <a:p>
            <a:r>
              <a:rPr lang="ru-RU" sz="1900"/>
              <a:t>Банкам важно выбирать точки с максимальной отдачей — высокий трафик и рентабельность.</a:t>
            </a:r>
          </a:p>
          <a:p>
            <a:r>
              <a:rPr lang="ru-RU" sz="1900"/>
              <a:t>Инструмент ранжирует локации, снижает ошибки и ускоряет вывод банкоматов.</a:t>
            </a:r>
          </a:p>
          <a:p>
            <a:r>
              <a:rPr lang="ru-RU" sz="1900"/>
              <a:t>Повышение удобства для клиентов: банкоматы в шаговой доступности.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0"/>
            <a:ext cx="8375586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196" y="0"/>
            <a:ext cx="836676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6676" y="548640"/>
            <a:ext cx="7626096" cy="1179576"/>
          </a:xfrm>
        </p:spPr>
        <p:txBody>
          <a:bodyPr>
            <a:normAutofit/>
          </a:bodyPr>
          <a:lstStyle/>
          <a:p>
            <a:r>
              <a:rPr lang="ru-RU" sz="3500"/>
              <a:t>Постановка задачи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758952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76" y="2481943"/>
            <a:ext cx="7626096" cy="3695020"/>
          </a:xfrm>
        </p:spPr>
        <p:txBody>
          <a:bodyPr>
            <a:normAutofit/>
          </a:bodyPr>
          <a:lstStyle/>
          <a:p>
            <a:r>
              <a:rPr lang="ru-RU" sz="1900"/>
              <a:t>Цель: определить факторы и построить модель, предсказывающую перспективные точки.</a:t>
            </a:r>
          </a:p>
          <a:p>
            <a:r>
              <a:rPr lang="ru-RU" sz="1900"/>
              <a:t>Что делаем: собираем геоданные (точки интереса, банкоматы), очищаем, формируем признаки, обучаем модели.</a:t>
            </a:r>
          </a:p>
          <a:p>
            <a:r>
              <a:rPr lang="ru-RU" sz="1900"/>
              <a:t>Ответ: какие факторы сильнее всего влияют и где ставить банкоматы в первую очередь.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0"/>
            <a:ext cx="8375586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196" y="0"/>
            <a:ext cx="836676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6676" y="548640"/>
            <a:ext cx="7626096" cy="1179576"/>
          </a:xfrm>
        </p:spPr>
        <p:txBody>
          <a:bodyPr>
            <a:normAutofit/>
          </a:bodyPr>
          <a:lstStyle/>
          <a:p>
            <a:r>
              <a:rPr lang="ru-RU" sz="3500"/>
              <a:t>Данные и источники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758952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76" y="2481943"/>
            <a:ext cx="7626096" cy="3695020"/>
          </a:xfrm>
        </p:spPr>
        <p:txBody>
          <a:bodyPr>
            <a:normAutofit/>
          </a:bodyPr>
          <a:lstStyle/>
          <a:p>
            <a:r>
              <a:rPr lang="en-US" sz="1900" dirty="0"/>
              <a:t>OpenStreetMap (OSM)</a:t>
            </a:r>
            <a:r>
              <a:rPr lang="ru-RU" sz="1900" dirty="0"/>
              <a:t> – открытые картографические данные</a:t>
            </a:r>
            <a:r>
              <a:rPr lang="en-US" sz="1900" dirty="0"/>
              <a:t>.</a:t>
            </a:r>
          </a:p>
          <a:p>
            <a:r>
              <a:rPr lang="ru-RU" sz="1900" dirty="0"/>
              <a:t>Слои: </a:t>
            </a:r>
            <a:endParaRPr lang="en-US" sz="1900" dirty="0"/>
          </a:p>
          <a:p>
            <a:r>
              <a:rPr lang="en-US" sz="1900" dirty="0"/>
              <a:t> – </a:t>
            </a:r>
            <a:r>
              <a:rPr lang="ru-RU" sz="1900" dirty="0"/>
              <a:t>банкоматы (</a:t>
            </a:r>
            <a:r>
              <a:rPr lang="en-US" sz="1900" dirty="0"/>
              <a:t>amenity=atm), </a:t>
            </a:r>
          </a:p>
          <a:p>
            <a:r>
              <a:rPr lang="en-US" sz="1900" dirty="0"/>
              <a:t> – </a:t>
            </a:r>
            <a:r>
              <a:rPr lang="ru-RU" sz="1900" dirty="0"/>
              <a:t>точек интереса (</a:t>
            </a:r>
            <a:r>
              <a:rPr lang="en-US" sz="1900" dirty="0"/>
              <a:t>POI  – </a:t>
            </a:r>
            <a:r>
              <a:rPr lang="ru-RU" sz="1900" dirty="0"/>
              <a:t>кафе, магазины, аптеки, остановки)</a:t>
            </a:r>
            <a:endParaRPr lang="en-US" sz="1900" dirty="0"/>
          </a:p>
          <a:p>
            <a:r>
              <a:rPr lang="en-US" sz="1900" dirty="0"/>
              <a:t> – </a:t>
            </a:r>
            <a:r>
              <a:rPr lang="ru-RU" sz="1900" dirty="0"/>
              <a:t>границы города.</a:t>
            </a:r>
          </a:p>
          <a:p>
            <a:r>
              <a:rPr lang="ru-RU" sz="1900" dirty="0"/>
              <a:t>Сохранение сырых и обработанных слоёв для воспроизводимости (</a:t>
            </a:r>
            <a:r>
              <a:rPr lang="en-US" sz="1900" dirty="0"/>
              <a:t>data/raw, data/processed).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0"/>
            <a:ext cx="8375586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196" y="0"/>
            <a:ext cx="836676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6676" y="548640"/>
            <a:ext cx="7626096" cy="1179576"/>
          </a:xfrm>
        </p:spPr>
        <p:txBody>
          <a:bodyPr>
            <a:normAutofit/>
          </a:bodyPr>
          <a:lstStyle/>
          <a:p>
            <a:r>
              <a:rPr lang="ru-RU" sz="3500"/>
              <a:t>Инструменты и библиотеки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758952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76" y="2481943"/>
            <a:ext cx="7626096" cy="3695020"/>
          </a:xfrm>
        </p:spPr>
        <p:txBody>
          <a:bodyPr>
            <a:normAutofit/>
          </a:bodyPr>
          <a:lstStyle/>
          <a:p>
            <a:r>
              <a:rPr lang="en-US" sz="1900"/>
              <a:t>Python: pandas, GeoPandas, Shapely, OSMnx, matplotlib.</a:t>
            </a:r>
          </a:p>
          <a:p>
            <a:r>
              <a:rPr lang="en-US" sz="1900"/>
              <a:t>ML: scikit-learn (Logistic Regression, Decision Tree, Random Forest), CatBoost.</a:t>
            </a:r>
          </a:p>
          <a:p>
            <a:r>
              <a:rPr lang="ru-RU" sz="1900"/>
              <a:t>Ноутбук со структурированными шагами: сбор → подготовка → признаки → модель.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325369"/>
            <a:ext cx="3276451" cy="1956841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ru-RU" sz="4000"/>
              <a:t>Методология: подготовка геоданных</a:t>
            </a:r>
          </a:p>
        </p:txBody>
      </p:sp>
      <p:sp>
        <p:nvSpPr>
          <p:cNvPr id="44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60" y="2586994"/>
            <a:ext cx="2606040" cy="18288"/>
          </a:xfrm>
          <a:custGeom>
            <a:avLst/>
            <a:gdLst>
              <a:gd name="connsiteX0" fmla="*/ 0 w 2606040"/>
              <a:gd name="connsiteY0" fmla="*/ 0 h 18288"/>
              <a:gd name="connsiteX1" fmla="*/ 625450 w 2606040"/>
              <a:gd name="connsiteY1" fmla="*/ 0 h 18288"/>
              <a:gd name="connsiteX2" fmla="*/ 1224839 w 2606040"/>
              <a:gd name="connsiteY2" fmla="*/ 0 h 18288"/>
              <a:gd name="connsiteX3" fmla="*/ 1824228 w 2606040"/>
              <a:gd name="connsiteY3" fmla="*/ 0 h 18288"/>
              <a:gd name="connsiteX4" fmla="*/ 2606040 w 2606040"/>
              <a:gd name="connsiteY4" fmla="*/ 0 h 18288"/>
              <a:gd name="connsiteX5" fmla="*/ 2606040 w 2606040"/>
              <a:gd name="connsiteY5" fmla="*/ 18288 h 18288"/>
              <a:gd name="connsiteX6" fmla="*/ 1902409 w 2606040"/>
              <a:gd name="connsiteY6" fmla="*/ 18288 h 18288"/>
              <a:gd name="connsiteX7" fmla="*/ 1276960 w 2606040"/>
              <a:gd name="connsiteY7" fmla="*/ 18288 h 18288"/>
              <a:gd name="connsiteX8" fmla="*/ 677570 w 2606040"/>
              <a:gd name="connsiteY8" fmla="*/ 18288 h 18288"/>
              <a:gd name="connsiteX9" fmla="*/ 0 w 2606040"/>
              <a:gd name="connsiteY9" fmla="*/ 18288 h 18288"/>
              <a:gd name="connsiteX10" fmla="*/ 0 w 2606040"/>
              <a:gd name="connsiteY10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606040" h="18288" fill="none" extrusionOk="0">
                <a:moveTo>
                  <a:pt x="0" y="0"/>
                </a:moveTo>
                <a:cubicBezTo>
                  <a:pt x="266776" y="-600"/>
                  <a:pt x="322756" y="3201"/>
                  <a:pt x="625450" y="0"/>
                </a:cubicBezTo>
                <a:cubicBezTo>
                  <a:pt x="928144" y="-3201"/>
                  <a:pt x="968141" y="9269"/>
                  <a:pt x="1224839" y="0"/>
                </a:cubicBezTo>
                <a:cubicBezTo>
                  <a:pt x="1481537" y="-9269"/>
                  <a:pt x="1569059" y="21947"/>
                  <a:pt x="1824228" y="0"/>
                </a:cubicBezTo>
                <a:cubicBezTo>
                  <a:pt x="2079397" y="-21947"/>
                  <a:pt x="2326053" y="-10194"/>
                  <a:pt x="2606040" y="0"/>
                </a:cubicBezTo>
                <a:cubicBezTo>
                  <a:pt x="2605462" y="4771"/>
                  <a:pt x="2606793" y="12323"/>
                  <a:pt x="2606040" y="18288"/>
                </a:cubicBezTo>
                <a:cubicBezTo>
                  <a:pt x="2256758" y="31410"/>
                  <a:pt x="2173673" y="-12878"/>
                  <a:pt x="1902409" y="18288"/>
                </a:cubicBezTo>
                <a:cubicBezTo>
                  <a:pt x="1631145" y="49454"/>
                  <a:pt x="1461378" y="5466"/>
                  <a:pt x="1276960" y="18288"/>
                </a:cubicBezTo>
                <a:cubicBezTo>
                  <a:pt x="1092542" y="31110"/>
                  <a:pt x="890442" y="13213"/>
                  <a:pt x="677570" y="18288"/>
                </a:cubicBezTo>
                <a:cubicBezTo>
                  <a:pt x="464698" y="23364"/>
                  <a:pt x="187648" y="35837"/>
                  <a:pt x="0" y="18288"/>
                </a:cubicBezTo>
                <a:cubicBezTo>
                  <a:pt x="841" y="12879"/>
                  <a:pt x="-726" y="3977"/>
                  <a:pt x="0" y="0"/>
                </a:cubicBezTo>
                <a:close/>
              </a:path>
              <a:path w="2606040" h="18288" stroke="0" extrusionOk="0">
                <a:moveTo>
                  <a:pt x="0" y="0"/>
                </a:moveTo>
                <a:cubicBezTo>
                  <a:pt x="197231" y="3803"/>
                  <a:pt x="358914" y="-9291"/>
                  <a:pt x="599389" y="0"/>
                </a:cubicBezTo>
                <a:cubicBezTo>
                  <a:pt x="839864" y="9291"/>
                  <a:pt x="979371" y="8509"/>
                  <a:pt x="1303020" y="0"/>
                </a:cubicBezTo>
                <a:cubicBezTo>
                  <a:pt x="1626669" y="-8509"/>
                  <a:pt x="1726300" y="7440"/>
                  <a:pt x="1876349" y="0"/>
                </a:cubicBezTo>
                <a:cubicBezTo>
                  <a:pt x="2026398" y="-7440"/>
                  <a:pt x="2430712" y="17957"/>
                  <a:pt x="2606040" y="0"/>
                </a:cubicBezTo>
                <a:cubicBezTo>
                  <a:pt x="2605426" y="8857"/>
                  <a:pt x="2606544" y="13619"/>
                  <a:pt x="2606040" y="18288"/>
                </a:cubicBezTo>
                <a:cubicBezTo>
                  <a:pt x="2393024" y="2241"/>
                  <a:pt x="2191161" y="39259"/>
                  <a:pt x="1980590" y="18288"/>
                </a:cubicBezTo>
                <a:cubicBezTo>
                  <a:pt x="1770019" y="-2683"/>
                  <a:pt x="1476440" y="36114"/>
                  <a:pt x="1276960" y="18288"/>
                </a:cubicBezTo>
                <a:cubicBezTo>
                  <a:pt x="1077480" y="463"/>
                  <a:pt x="880988" y="42125"/>
                  <a:pt x="651510" y="18288"/>
                </a:cubicBezTo>
                <a:cubicBezTo>
                  <a:pt x="422032" y="-5549"/>
                  <a:pt x="130744" y="-1947"/>
                  <a:pt x="0" y="18288"/>
                </a:cubicBezTo>
                <a:cubicBezTo>
                  <a:pt x="-487" y="10816"/>
                  <a:pt x="-839" y="605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" y="2872899"/>
            <a:ext cx="3182691" cy="3320668"/>
          </a:xfrm>
        </p:spPr>
        <p:txBody>
          <a:bodyPr>
            <a:normAutofit/>
          </a:bodyPr>
          <a:lstStyle/>
          <a:p>
            <a:r>
              <a:rPr lang="ru-RU" sz="1800"/>
              <a:t>Единая метрическая проекция (PSG:3857) — корректные расстояния и буферы.</a:t>
            </a:r>
          </a:p>
          <a:p>
            <a:r>
              <a:rPr lang="ru-RU" sz="1800"/>
              <a:t>Очистка дубликатов и пустых геометрий, нормализация атрибутов.</a:t>
            </a:r>
          </a:p>
          <a:p>
            <a:r>
              <a:rPr lang="ru-RU" sz="1800"/>
              <a:t>Контроль границ Москвы, визуальная проверка корректности выгрузок.</a:t>
            </a:r>
          </a:p>
        </p:txBody>
      </p:sp>
      <p:pic>
        <p:nvPicPr>
          <p:cNvPr id="7" name="Picture 4" descr="img_03.png">
            <a:extLst>
              <a:ext uri="{FF2B5EF4-FFF2-40B4-BE49-F238E27FC236}">
                <a16:creationId xmlns:a16="http://schemas.microsoft.com/office/drawing/2014/main" id="{553C3502-C25D-EC1B-04C2-D48B435F55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4111" y="265953"/>
            <a:ext cx="4838137" cy="632609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90D01200-0224-43C5-AB38-FB4D16B73F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3879" y="830755"/>
            <a:ext cx="4701577" cy="124716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ru-RU" sz="3800"/>
              <a:t>Сетка кандидатов и целевая переменная</a:t>
            </a:r>
            <a:endParaRPr lang="ru-RU" sz="38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28A44A4-A002-4A88-9FC9-1D0566C97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30758" y="431969"/>
            <a:ext cx="73152" cy="4114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E7D5C7B-DD16-401B-85CE-4AAA2A4F51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879" y="2935541"/>
            <a:ext cx="46634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486" y="2935541"/>
            <a:ext cx="4701577" cy="3047840"/>
          </a:xfrm>
        </p:spPr>
        <p:txBody>
          <a:bodyPr>
            <a:normAutofit fontScale="92500" lnSpcReduction="20000"/>
          </a:bodyPr>
          <a:lstStyle/>
          <a:p>
            <a:r>
              <a:rPr lang="ru-RU" sz="1900" dirty="0"/>
              <a:t>Регулярная сетка точек внутри МКАД — кандидаты для установки.</a:t>
            </a:r>
            <a:br>
              <a:rPr lang="en-US" sz="1900" dirty="0"/>
            </a:br>
            <a:endParaRPr lang="ru-RU" sz="1900" dirty="0"/>
          </a:p>
          <a:p>
            <a:r>
              <a:rPr lang="ru-RU" sz="1900" dirty="0"/>
              <a:t>Разметка: </a:t>
            </a:r>
            <a:endParaRPr lang="en-US" sz="1900" dirty="0"/>
          </a:p>
          <a:p>
            <a:pPr marL="0" indent="0">
              <a:buNone/>
            </a:pPr>
            <a:r>
              <a:rPr lang="en-US" sz="1900" dirty="0"/>
              <a:t>	</a:t>
            </a:r>
            <a:r>
              <a:rPr lang="ru-RU" sz="1900" dirty="0"/>
              <a:t>реальные ATM</a:t>
            </a:r>
            <a:r>
              <a:rPr lang="en-US" sz="1900" dirty="0"/>
              <a:t> </a:t>
            </a:r>
            <a:r>
              <a:rPr lang="ru-RU" sz="1900" dirty="0"/>
              <a:t>=</a:t>
            </a:r>
            <a:r>
              <a:rPr lang="en-US" sz="1900" dirty="0"/>
              <a:t> 1 (</a:t>
            </a:r>
            <a:r>
              <a:rPr lang="ru-RU" sz="2000" dirty="0"/>
              <a:t>14,2%</a:t>
            </a:r>
            <a:r>
              <a:rPr lang="en-US" sz="1900" dirty="0"/>
              <a:t>)</a:t>
            </a:r>
          </a:p>
          <a:p>
            <a:pPr marL="0" indent="0">
              <a:buNone/>
            </a:pPr>
            <a:r>
              <a:rPr lang="en-US" sz="1900" dirty="0"/>
              <a:t>	</a:t>
            </a:r>
            <a:r>
              <a:rPr lang="ru-RU" sz="1900" dirty="0"/>
              <a:t>кандидаты без ATM</a:t>
            </a:r>
            <a:r>
              <a:rPr lang="en-US" sz="1900" dirty="0"/>
              <a:t> = 0 </a:t>
            </a:r>
            <a:r>
              <a:rPr lang="en-US" sz="1800" dirty="0"/>
              <a:t>(</a:t>
            </a:r>
            <a:r>
              <a:rPr lang="ru-RU" sz="1800" dirty="0"/>
              <a:t>85,8%</a:t>
            </a:r>
            <a:r>
              <a:rPr lang="en-US" sz="1800" dirty="0"/>
              <a:t>)</a:t>
            </a:r>
            <a:endParaRPr lang="en-US" sz="1900" dirty="0"/>
          </a:p>
          <a:p>
            <a:pPr marL="0" indent="0">
              <a:buNone/>
            </a:pPr>
            <a:endParaRPr lang="ru-RU" sz="1900" dirty="0"/>
          </a:p>
          <a:p>
            <a:r>
              <a:rPr lang="ru-RU" sz="1900" dirty="0"/>
              <a:t>Итог: </a:t>
            </a:r>
          </a:p>
          <a:p>
            <a:r>
              <a:rPr lang="ru-RU" sz="1900" dirty="0"/>
              <a:t>датасет с признаками доступности и дисбалансом классов (реальных банкоматов меньше).</a:t>
            </a:r>
          </a:p>
        </p:txBody>
      </p:sp>
      <p:pic>
        <p:nvPicPr>
          <p:cNvPr id="6" name="Picture 5" descr="img_06.png">
            <a:extLst>
              <a:ext uri="{FF2B5EF4-FFF2-40B4-BE49-F238E27FC236}">
                <a16:creationId xmlns:a16="http://schemas.microsoft.com/office/drawing/2014/main" id="{15F4C489-8BB1-223C-6254-66E15AE43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1062" y="1837939"/>
            <a:ext cx="3833394" cy="466418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996BD2A-8F39-BDF0-18E3-04466C862E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3732" y="637709"/>
            <a:ext cx="1648055" cy="10288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69" name="Rectangle 1068">
            <a:extLst>
              <a:ext uri="{FF2B5EF4-FFF2-40B4-BE49-F238E27FC236}">
                <a16:creationId xmlns:a16="http://schemas.microsoft.com/office/drawing/2014/main" id="{2550BE34-C2B8-49B8-8519-67A8CAD51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71" name="Rectangle 1070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5812" y="365125"/>
            <a:ext cx="8375585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5059" y="586822"/>
            <a:ext cx="2670189" cy="1645920"/>
          </a:xfrm>
        </p:spPr>
        <p:txBody>
          <a:bodyPr>
            <a:normAutofit/>
          </a:bodyPr>
          <a:lstStyle/>
          <a:p>
            <a:r>
              <a:rPr lang="ru-RU" sz="2800"/>
              <a:t>Признаки (</a:t>
            </a:r>
            <a:r>
              <a:rPr lang="en-US" sz="2800"/>
              <a:t>feature engineering)</a:t>
            </a:r>
          </a:p>
        </p:txBody>
      </p:sp>
      <p:sp>
        <p:nvSpPr>
          <p:cNvPr id="1073" name="Rectangle 1072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806" y="1057739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75" name="Rectangle 1074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999776" y="1402924"/>
            <a:ext cx="1463040" cy="13716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13373" y="586822"/>
            <a:ext cx="4501977" cy="1645920"/>
          </a:xfrm>
        </p:spPr>
        <p:txBody>
          <a:bodyPr anchor="ctr">
            <a:normAutofit/>
          </a:bodyPr>
          <a:lstStyle/>
          <a:p>
            <a:r>
              <a:rPr lang="ru-RU" sz="1600" dirty="0"/>
              <a:t>Радиусы доступности: 300 м и 500 м вокруг точки-кандидата.</a:t>
            </a:r>
          </a:p>
          <a:p>
            <a:r>
              <a:rPr lang="ru-RU" sz="1600" dirty="0"/>
              <a:t>Плотность инфраструктуры: кафе, магазины, аптеки, остановки, рестораны.</a:t>
            </a:r>
          </a:p>
          <a:p>
            <a:r>
              <a:rPr lang="ru-RU" sz="1600" dirty="0"/>
              <a:t>Суммарные показатели: POI</a:t>
            </a:r>
          </a:p>
        </p:txBody>
      </p:sp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D65B5587-686D-9815-EAA5-6B99F8F742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4889829"/>
              </p:ext>
            </p:extLst>
          </p:nvPr>
        </p:nvGraphicFramePr>
        <p:xfrm>
          <a:off x="418338" y="3058157"/>
          <a:ext cx="8373620" cy="2835665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945454">
                  <a:extLst>
                    <a:ext uri="{9D8B030D-6E8A-4147-A177-3AD203B41FA5}">
                      <a16:colId xmlns:a16="http://schemas.microsoft.com/office/drawing/2014/main" val="1159726757"/>
                    </a:ext>
                  </a:extLst>
                </a:gridCol>
                <a:gridCol w="1744753">
                  <a:extLst>
                    <a:ext uri="{9D8B030D-6E8A-4147-A177-3AD203B41FA5}">
                      <a16:colId xmlns:a16="http://schemas.microsoft.com/office/drawing/2014/main" val="4145805463"/>
                    </a:ext>
                  </a:extLst>
                </a:gridCol>
                <a:gridCol w="2443882">
                  <a:extLst>
                    <a:ext uri="{9D8B030D-6E8A-4147-A177-3AD203B41FA5}">
                      <a16:colId xmlns:a16="http://schemas.microsoft.com/office/drawing/2014/main" val="894856572"/>
                    </a:ext>
                  </a:extLst>
                </a:gridCol>
                <a:gridCol w="2239531">
                  <a:extLst>
                    <a:ext uri="{9D8B030D-6E8A-4147-A177-3AD203B41FA5}">
                      <a16:colId xmlns:a16="http://schemas.microsoft.com/office/drawing/2014/main" val="3409701981"/>
                    </a:ext>
                  </a:extLst>
                </a:gridCol>
              </a:tblGrid>
              <a:tr h="5349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000" b="1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Признак</a:t>
                      </a:r>
                    </a:p>
                  </a:txBody>
                  <a:tcPr marL="78561" marR="10332" marT="22446" marB="168344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000" b="1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Максимум</a:t>
                      </a:r>
                    </a:p>
                  </a:txBody>
                  <a:tcPr marL="78561" marR="10332" marT="22446" marB="168344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000" b="1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Среднее (без </a:t>
                      </a:r>
                      <a:r>
                        <a:rPr lang="en-US" sz="2000" b="1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ATM)</a:t>
                      </a:r>
                    </a:p>
                  </a:txBody>
                  <a:tcPr marL="78561" marR="10332" marT="22446" marB="168344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000" b="1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Среднее (с </a:t>
                      </a:r>
                      <a:r>
                        <a:rPr lang="en-US" sz="2000" b="1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ATM)</a:t>
                      </a:r>
                    </a:p>
                  </a:txBody>
                  <a:tcPr marL="78561" marR="10332" marT="22446" marB="168344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5954205"/>
                  </a:ext>
                </a:extLst>
              </a:tr>
              <a:tr h="46014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POI, 500 </a:t>
                      </a: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м (все)</a:t>
                      </a:r>
                    </a:p>
                  </a:txBody>
                  <a:tcPr marL="78561" marR="10332" marT="22446" marB="168344" anchor="ctr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7,6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7422781"/>
                  </a:ext>
                </a:extLst>
              </a:tr>
              <a:tr h="46014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POI, 300 </a:t>
                      </a: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м (все)</a:t>
                      </a:r>
                    </a:p>
                  </a:txBody>
                  <a:tcPr marL="78561" marR="10332" marT="22446" marB="168344" anchor="ctr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58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2,8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10,5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730960"/>
                  </a:ext>
                </a:extLst>
              </a:tr>
              <a:tr h="46014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Остановки, 500 м</a:t>
                      </a:r>
                    </a:p>
                  </a:txBody>
                  <a:tcPr marL="78561" marR="10332" marT="22446" marB="168344" anchor="ctr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31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2,6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5,1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6119166"/>
                  </a:ext>
                </a:extLst>
              </a:tr>
              <a:tr h="46014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Магазины, 500 м</a:t>
                      </a:r>
                    </a:p>
                  </a:txBody>
                  <a:tcPr marL="78561" marR="10332" marT="22446" marB="168344" anchor="ctr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1,9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4,5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2049460"/>
                  </a:ext>
                </a:extLst>
              </a:tr>
              <a:tr h="46014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Кафе, 500 м</a:t>
                      </a:r>
                    </a:p>
                  </a:txBody>
                  <a:tcPr marL="78561" marR="10332" marT="22446" marB="168344" anchor="ctr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61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1,3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5,5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033178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325369"/>
            <a:ext cx="3276451" cy="1956841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ru-RU" sz="3600"/>
              <a:t>Районы Москвы по плотности ATM</a:t>
            </a:r>
          </a:p>
        </p:txBody>
      </p:sp>
      <p:sp>
        <p:nvSpPr>
          <p:cNvPr id="31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60" y="2586994"/>
            <a:ext cx="2606040" cy="18288"/>
          </a:xfrm>
          <a:custGeom>
            <a:avLst/>
            <a:gdLst>
              <a:gd name="connsiteX0" fmla="*/ 0 w 2606040"/>
              <a:gd name="connsiteY0" fmla="*/ 0 h 18288"/>
              <a:gd name="connsiteX1" fmla="*/ 625450 w 2606040"/>
              <a:gd name="connsiteY1" fmla="*/ 0 h 18288"/>
              <a:gd name="connsiteX2" fmla="*/ 1224839 w 2606040"/>
              <a:gd name="connsiteY2" fmla="*/ 0 h 18288"/>
              <a:gd name="connsiteX3" fmla="*/ 1824228 w 2606040"/>
              <a:gd name="connsiteY3" fmla="*/ 0 h 18288"/>
              <a:gd name="connsiteX4" fmla="*/ 2606040 w 2606040"/>
              <a:gd name="connsiteY4" fmla="*/ 0 h 18288"/>
              <a:gd name="connsiteX5" fmla="*/ 2606040 w 2606040"/>
              <a:gd name="connsiteY5" fmla="*/ 18288 h 18288"/>
              <a:gd name="connsiteX6" fmla="*/ 1902409 w 2606040"/>
              <a:gd name="connsiteY6" fmla="*/ 18288 h 18288"/>
              <a:gd name="connsiteX7" fmla="*/ 1276960 w 2606040"/>
              <a:gd name="connsiteY7" fmla="*/ 18288 h 18288"/>
              <a:gd name="connsiteX8" fmla="*/ 677570 w 2606040"/>
              <a:gd name="connsiteY8" fmla="*/ 18288 h 18288"/>
              <a:gd name="connsiteX9" fmla="*/ 0 w 2606040"/>
              <a:gd name="connsiteY9" fmla="*/ 18288 h 18288"/>
              <a:gd name="connsiteX10" fmla="*/ 0 w 2606040"/>
              <a:gd name="connsiteY10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606040" h="18288" fill="none" extrusionOk="0">
                <a:moveTo>
                  <a:pt x="0" y="0"/>
                </a:moveTo>
                <a:cubicBezTo>
                  <a:pt x="266776" y="-600"/>
                  <a:pt x="322756" y="3201"/>
                  <a:pt x="625450" y="0"/>
                </a:cubicBezTo>
                <a:cubicBezTo>
                  <a:pt x="928144" y="-3201"/>
                  <a:pt x="968141" y="9269"/>
                  <a:pt x="1224839" y="0"/>
                </a:cubicBezTo>
                <a:cubicBezTo>
                  <a:pt x="1481537" y="-9269"/>
                  <a:pt x="1569059" y="21947"/>
                  <a:pt x="1824228" y="0"/>
                </a:cubicBezTo>
                <a:cubicBezTo>
                  <a:pt x="2079397" y="-21947"/>
                  <a:pt x="2326053" y="-10194"/>
                  <a:pt x="2606040" y="0"/>
                </a:cubicBezTo>
                <a:cubicBezTo>
                  <a:pt x="2605462" y="4771"/>
                  <a:pt x="2606793" y="12323"/>
                  <a:pt x="2606040" y="18288"/>
                </a:cubicBezTo>
                <a:cubicBezTo>
                  <a:pt x="2256758" y="31410"/>
                  <a:pt x="2173673" y="-12878"/>
                  <a:pt x="1902409" y="18288"/>
                </a:cubicBezTo>
                <a:cubicBezTo>
                  <a:pt x="1631145" y="49454"/>
                  <a:pt x="1461378" y="5466"/>
                  <a:pt x="1276960" y="18288"/>
                </a:cubicBezTo>
                <a:cubicBezTo>
                  <a:pt x="1092542" y="31110"/>
                  <a:pt x="890442" y="13213"/>
                  <a:pt x="677570" y="18288"/>
                </a:cubicBezTo>
                <a:cubicBezTo>
                  <a:pt x="464698" y="23364"/>
                  <a:pt x="187648" y="35837"/>
                  <a:pt x="0" y="18288"/>
                </a:cubicBezTo>
                <a:cubicBezTo>
                  <a:pt x="841" y="12879"/>
                  <a:pt x="-726" y="3977"/>
                  <a:pt x="0" y="0"/>
                </a:cubicBezTo>
                <a:close/>
              </a:path>
              <a:path w="2606040" h="18288" stroke="0" extrusionOk="0">
                <a:moveTo>
                  <a:pt x="0" y="0"/>
                </a:moveTo>
                <a:cubicBezTo>
                  <a:pt x="197231" y="3803"/>
                  <a:pt x="358914" y="-9291"/>
                  <a:pt x="599389" y="0"/>
                </a:cubicBezTo>
                <a:cubicBezTo>
                  <a:pt x="839864" y="9291"/>
                  <a:pt x="979371" y="8509"/>
                  <a:pt x="1303020" y="0"/>
                </a:cubicBezTo>
                <a:cubicBezTo>
                  <a:pt x="1626669" y="-8509"/>
                  <a:pt x="1726300" y="7440"/>
                  <a:pt x="1876349" y="0"/>
                </a:cubicBezTo>
                <a:cubicBezTo>
                  <a:pt x="2026398" y="-7440"/>
                  <a:pt x="2430712" y="17957"/>
                  <a:pt x="2606040" y="0"/>
                </a:cubicBezTo>
                <a:cubicBezTo>
                  <a:pt x="2605426" y="8857"/>
                  <a:pt x="2606544" y="13619"/>
                  <a:pt x="2606040" y="18288"/>
                </a:cubicBezTo>
                <a:cubicBezTo>
                  <a:pt x="2393024" y="2241"/>
                  <a:pt x="2191161" y="39259"/>
                  <a:pt x="1980590" y="18288"/>
                </a:cubicBezTo>
                <a:cubicBezTo>
                  <a:pt x="1770019" y="-2683"/>
                  <a:pt x="1476440" y="36114"/>
                  <a:pt x="1276960" y="18288"/>
                </a:cubicBezTo>
                <a:cubicBezTo>
                  <a:pt x="1077480" y="463"/>
                  <a:pt x="880988" y="42125"/>
                  <a:pt x="651510" y="18288"/>
                </a:cubicBezTo>
                <a:cubicBezTo>
                  <a:pt x="422032" y="-5549"/>
                  <a:pt x="130744" y="-1947"/>
                  <a:pt x="0" y="18288"/>
                </a:cubicBezTo>
                <a:cubicBezTo>
                  <a:pt x="-487" y="10816"/>
                  <a:pt x="-839" y="605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" y="2872899"/>
            <a:ext cx="3182691" cy="3320668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ru-RU" sz="1600"/>
              <a:t>В центре города банкоматов значительно больше, чем на окраинах.</a:t>
            </a:r>
          </a:p>
          <a:p>
            <a:pPr>
              <a:lnSpc>
                <a:spcPct val="90000"/>
              </a:lnSpc>
            </a:pPr>
            <a:r>
              <a:rPr lang="ru-RU" sz="1600"/>
              <a:t>Топ-районы: Замоскворечье, Тверской, Арбат (2,5–4,2 банкомата/км²).</a:t>
            </a:r>
          </a:p>
          <a:p>
            <a:pPr>
              <a:lnSpc>
                <a:spcPct val="90000"/>
              </a:lnSpc>
            </a:pPr>
            <a:r>
              <a:rPr lang="ru-RU" sz="1600"/>
              <a:t>Анти-топ районы: Метрогородок, Алтуфьевский, Бескудниковский (0,05–0,13 банкомата/км²).</a:t>
            </a:r>
          </a:p>
          <a:p>
            <a:pPr>
              <a:lnSpc>
                <a:spcPct val="90000"/>
              </a:lnSpc>
            </a:pPr>
            <a:r>
              <a:rPr lang="ru-RU" sz="1600"/>
              <a:t>Метро: Курская — лидер по доступности (23 банкомата в радиусе 300 м)</a:t>
            </a:r>
          </a:p>
        </p:txBody>
      </p:sp>
      <p:pic>
        <p:nvPicPr>
          <p:cNvPr id="7" name="Picture 5" descr="img_09.png">
            <a:extLst>
              <a:ext uri="{FF2B5EF4-FFF2-40B4-BE49-F238E27FC236}">
                <a16:creationId xmlns:a16="http://schemas.microsoft.com/office/drawing/2014/main" id="{BA629B8B-FB90-B4A5-02C4-6DADCD1676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989"/>
          <a:stretch>
            <a:fillRect/>
          </a:stretch>
        </p:blipFill>
        <p:spPr>
          <a:xfrm>
            <a:off x="4142810" y="185093"/>
            <a:ext cx="4767237" cy="600847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0"/>
            <a:ext cx="8375586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196" y="0"/>
            <a:ext cx="836676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6676" y="548640"/>
            <a:ext cx="7626096" cy="1179576"/>
          </a:xfrm>
        </p:spPr>
        <p:txBody>
          <a:bodyPr>
            <a:normAutofit/>
          </a:bodyPr>
          <a:lstStyle/>
          <a:p>
            <a:r>
              <a:rPr lang="ru-RU" sz="3500"/>
              <a:t>Модели для обучения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758952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76" y="2481943"/>
            <a:ext cx="7626096" cy="3695020"/>
          </a:xfrm>
        </p:spPr>
        <p:txBody>
          <a:bodyPr>
            <a:normAutofit/>
          </a:bodyPr>
          <a:lstStyle/>
          <a:p>
            <a:r>
              <a:rPr lang="en-US" sz="1900" dirty="0"/>
              <a:t>Logistic Regression</a:t>
            </a:r>
            <a:r>
              <a:rPr lang="ru-RU" sz="1900" dirty="0"/>
              <a:t>: Простая и интерпретируемая модель, задаёт базовый уровень качества.</a:t>
            </a:r>
          </a:p>
          <a:p>
            <a:r>
              <a:rPr lang="en-US" sz="1900" dirty="0"/>
              <a:t>Decision Tree</a:t>
            </a:r>
            <a:r>
              <a:rPr lang="ru-RU" sz="1900" dirty="0"/>
              <a:t>: Иерархическая модель, легко объяснять, но склонна к переобучению.</a:t>
            </a:r>
          </a:p>
          <a:p>
            <a:r>
              <a:rPr lang="en-US" sz="1900" dirty="0"/>
              <a:t>Random Forest</a:t>
            </a:r>
            <a:r>
              <a:rPr lang="ru-RU" sz="1900" dirty="0"/>
              <a:t> : Ансамбль деревьев, даёт более устойчивые результаты, лучше </a:t>
            </a:r>
            <a:r>
              <a:rPr lang="en-US" sz="1900" dirty="0"/>
              <a:t>Precision.</a:t>
            </a:r>
          </a:p>
          <a:p>
            <a:r>
              <a:rPr lang="en-US" sz="1900" dirty="0"/>
              <a:t>CatBoost</a:t>
            </a:r>
            <a:r>
              <a:rPr lang="ru-RU" sz="1900" dirty="0"/>
              <a:t> : Градиентный </a:t>
            </a:r>
            <a:r>
              <a:rPr lang="ru-RU" sz="1900" dirty="0" err="1"/>
              <a:t>бустинг</a:t>
            </a:r>
            <a:r>
              <a:rPr lang="ru-RU" sz="1900" dirty="0"/>
              <a:t>, оптимизирован для категориальных и </a:t>
            </a:r>
            <a:r>
              <a:rPr lang="ru-RU" sz="1900" dirty="0" err="1"/>
              <a:t>дисбалансных</a:t>
            </a:r>
            <a:r>
              <a:rPr lang="ru-RU" sz="1900" dirty="0"/>
              <a:t> данных, показывает лучший </a:t>
            </a:r>
            <a:r>
              <a:rPr lang="en-US" sz="1900" dirty="0"/>
              <a:t>Recall </a:t>
            </a:r>
            <a:r>
              <a:rPr lang="ru-RU" sz="1900" dirty="0"/>
              <a:t>и </a:t>
            </a:r>
            <a:r>
              <a:rPr lang="en-US" sz="1900" dirty="0"/>
              <a:t>ROC-AUC.</a:t>
            </a:r>
            <a:endParaRPr lang="ru-RU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0"/>
            <a:ext cx="8375586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196" y="0"/>
            <a:ext cx="836676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6676" y="548640"/>
            <a:ext cx="7626096" cy="1179576"/>
          </a:xfrm>
        </p:spPr>
        <p:txBody>
          <a:bodyPr>
            <a:normAutofit/>
          </a:bodyPr>
          <a:lstStyle/>
          <a:p>
            <a:r>
              <a:rPr lang="ru-RU" sz="3500" dirty="0"/>
              <a:t>Метрики оценки качества моделей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758952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76" y="2481943"/>
            <a:ext cx="7626096" cy="3695020"/>
          </a:xfrm>
        </p:spPr>
        <p:txBody>
          <a:bodyPr>
            <a:normAutofit/>
          </a:bodyPr>
          <a:lstStyle/>
          <a:p>
            <a:r>
              <a:rPr lang="ru-RU" sz="1900" dirty="0" err="1"/>
              <a:t>Accuracy</a:t>
            </a:r>
            <a:r>
              <a:rPr lang="ru-RU" sz="1900" dirty="0"/>
              <a:t> – доля правильных предсказаний.</a:t>
            </a:r>
          </a:p>
          <a:p>
            <a:r>
              <a:rPr lang="ru-RU" sz="1900" dirty="0"/>
              <a:t>Precision – насколько модель точна в положительных предсказаниях.</a:t>
            </a:r>
          </a:p>
          <a:p>
            <a:r>
              <a:rPr lang="ru-RU" sz="1900" dirty="0" err="1"/>
              <a:t>Recall</a:t>
            </a:r>
            <a:r>
              <a:rPr lang="ru-RU" sz="1900"/>
              <a:t> – насколько полно модель находит все положительные объекты.</a:t>
            </a:r>
          </a:p>
          <a:p>
            <a:r>
              <a:rPr lang="ru-RU" sz="1900" dirty="0"/>
              <a:t>F1-score – баланс между Precision и </a:t>
            </a:r>
            <a:r>
              <a:rPr lang="ru-RU" sz="1900" dirty="0" err="1"/>
              <a:t>Recall</a:t>
            </a:r>
            <a:r>
              <a:rPr lang="ru-RU" sz="1900" dirty="0"/>
              <a:t>.</a:t>
            </a:r>
          </a:p>
          <a:p>
            <a:r>
              <a:rPr lang="ru-RU" sz="1900" dirty="0"/>
              <a:t>ROC-AUC – способность модели различать классы на разных порогах.</a:t>
            </a:r>
          </a:p>
          <a:p>
            <a:r>
              <a:rPr lang="ru-RU" sz="1900" dirty="0"/>
              <a:t>PR-AUC – качество модели при несбалансированных классах (Precision–</a:t>
            </a:r>
            <a:r>
              <a:rPr lang="ru-RU" sz="1900" dirty="0" err="1"/>
              <a:t>Recall</a:t>
            </a:r>
            <a:r>
              <a:rPr lang="ru-RU" sz="19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322703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206" name="Rectangle 8205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9369" y="238539"/>
            <a:ext cx="8263890" cy="1434415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ru-RU" sz="4700"/>
              <a:t>Матрица распределения признаков </a:t>
            </a:r>
          </a:p>
        </p:txBody>
      </p:sp>
      <p:sp>
        <p:nvSpPr>
          <p:cNvPr id="8208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9369" y="1681544"/>
            <a:ext cx="8229600" cy="18288"/>
          </a:xfrm>
          <a:custGeom>
            <a:avLst/>
            <a:gdLst>
              <a:gd name="connsiteX0" fmla="*/ 0 w 8229600"/>
              <a:gd name="connsiteY0" fmla="*/ 0 h 18288"/>
              <a:gd name="connsiteX1" fmla="*/ 521208 w 8229600"/>
              <a:gd name="connsiteY1" fmla="*/ 0 h 18288"/>
              <a:gd name="connsiteX2" fmla="*/ 1371600 w 8229600"/>
              <a:gd name="connsiteY2" fmla="*/ 0 h 18288"/>
              <a:gd name="connsiteX3" fmla="*/ 2221992 w 8229600"/>
              <a:gd name="connsiteY3" fmla="*/ 0 h 18288"/>
              <a:gd name="connsiteX4" fmla="*/ 3072384 w 8229600"/>
              <a:gd name="connsiteY4" fmla="*/ 0 h 18288"/>
              <a:gd name="connsiteX5" fmla="*/ 3511296 w 8229600"/>
              <a:gd name="connsiteY5" fmla="*/ 0 h 18288"/>
              <a:gd name="connsiteX6" fmla="*/ 4114800 w 8229600"/>
              <a:gd name="connsiteY6" fmla="*/ 0 h 18288"/>
              <a:gd name="connsiteX7" fmla="*/ 4553712 w 8229600"/>
              <a:gd name="connsiteY7" fmla="*/ 0 h 18288"/>
              <a:gd name="connsiteX8" fmla="*/ 5239512 w 8229600"/>
              <a:gd name="connsiteY8" fmla="*/ 0 h 18288"/>
              <a:gd name="connsiteX9" fmla="*/ 5843016 w 8229600"/>
              <a:gd name="connsiteY9" fmla="*/ 0 h 18288"/>
              <a:gd name="connsiteX10" fmla="*/ 6611112 w 8229600"/>
              <a:gd name="connsiteY10" fmla="*/ 0 h 18288"/>
              <a:gd name="connsiteX11" fmla="*/ 7461504 w 8229600"/>
              <a:gd name="connsiteY11" fmla="*/ 0 h 18288"/>
              <a:gd name="connsiteX12" fmla="*/ 8229600 w 8229600"/>
              <a:gd name="connsiteY12" fmla="*/ 0 h 18288"/>
              <a:gd name="connsiteX13" fmla="*/ 8229600 w 8229600"/>
              <a:gd name="connsiteY13" fmla="*/ 18288 h 18288"/>
              <a:gd name="connsiteX14" fmla="*/ 7461504 w 8229600"/>
              <a:gd name="connsiteY14" fmla="*/ 18288 h 18288"/>
              <a:gd name="connsiteX15" fmla="*/ 6940296 w 8229600"/>
              <a:gd name="connsiteY15" fmla="*/ 18288 h 18288"/>
              <a:gd name="connsiteX16" fmla="*/ 6419088 w 8229600"/>
              <a:gd name="connsiteY16" fmla="*/ 18288 h 18288"/>
              <a:gd name="connsiteX17" fmla="*/ 5650992 w 8229600"/>
              <a:gd name="connsiteY17" fmla="*/ 18288 h 18288"/>
              <a:gd name="connsiteX18" fmla="*/ 5129784 w 8229600"/>
              <a:gd name="connsiteY18" fmla="*/ 18288 h 18288"/>
              <a:gd name="connsiteX19" fmla="*/ 4690872 w 8229600"/>
              <a:gd name="connsiteY19" fmla="*/ 18288 h 18288"/>
              <a:gd name="connsiteX20" fmla="*/ 4087368 w 8229600"/>
              <a:gd name="connsiteY20" fmla="*/ 18288 h 18288"/>
              <a:gd name="connsiteX21" fmla="*/ 3401568 w 8229600"/>
              <a:gd name="connsiteY21" fmla="*/ 18288 h 18288"/>
              <a:gd name="connsiteX22" fmla="*/ 2798064 w 8229600"/>
              <a:gd name="connsiteY22" fmla="*/ 18288 h 18288"/>
              <a:gd name="connsiteX23" fmla="*/ 2276856 w 8229600"/>
              <a:gd name="connsiteY23" fmla="*/ 18288 h 18288"/>
              <a:gd name="connsiteX24" fmla="*/ 1426464 w 8229600"/>
              <a:gd name="connsiteY24" fmla="*/ 18288 h 18288"/>
              <a:gd name="connsiteX25" fmla="*/ 740664 w 8229600"/>
              <a:gd name="connsiteY25" fmla="*/ 18288 h 18288"/>
              <a:gd name="connsiteX26" fmla="*/ 0 w 8229600"/>
              <a:gd name="connsiteY26" fmla="*/ 18288 h 18288"/>
              <a:gd name="connsiteX27" fmla="*/ 0 w 8229600"/>
              <a:gd name="connsiteY2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229600" h="18288" fill="none" extrusionOk="0">
                <a:moveTo>
                  <a:pt x="0" y="0"/>
                </a:moveTo>
                <a:cubicBezTo>
                  <a:pt x="227594" y="-4267"/>
                  <a:pt x="329693" y="13251"/>
                  <a:pt x="521208" y="0"/>
                </a:cubicBezTo>
                <a:cubicBezTo>
                  <a:pt x="712723" y="-13251"/>
                  <a:pt x="1137373" y="-13618"/>
                  <a:pt x="1371600" y="0"/>
                </a:cubicBezTo>
                <a:cubicBezTo>
                  <a:pt x="1605827" y="13618"/>
                  <a:pt x="1975382" y="-27374"/>
                  <a:pt x="2221992" y="0"/>
                </a:cubicBezTo>
                <a:cubicBezTo>
                  <a:pt x="2468602" y="27374"/>
                  <a:pt x="2863316" y="-20517"/>
                  <a:pt x="3072384" y="0"/>
                </a:cubicBezTo>
                <a:cubicBezTo>
                  <a:pt x="3281452" y="20517"/>
                  <a:pt x="3331438" y="10793"/>
                  <a:pt x="3511296" y="0"/>
                </a:cubicBezTo>
                <a:cubicBezTo>
                  <a:pt x="3691154" y="-10793"/>
                  <a:pt x="3906405" y="-29737"/>
                  <a:pt x="4114800" y="0"/>
                </a:cubicBezTo>
                <a:cubicBezTo>
                  <a:pt x="4323195" y="29737"/>
                  <a:pt x="4428852" y="-2234"/>
                  <a:pt x="4553712" y="0"/>
                </a:cubicBezTo>
                <a:cubicBezTo>
                  <a:pt x="4678572" y="2234"/>
                  <a:pt x="5065629" y="29368"/>
                  <a:pt x="5239512" y="0"/>
                </a:cubicBezTo>
                <a:cubicBezTo>
                  <a:pt x="5413395" y="-29368"/>
                  <a:pt x="5703888" y="11839"/>
                  <a:pt x="5843016" y="0"/>
                </a:cubicBezTo>
                <a:cubicBezTo>
                  <a:pt x="5982144" y="-11839"/>
                  <a:pt x="6260765" y="24719"/>
                  <a:pt x="6611112" y="0"/>
                </a:cubicBezTo>
                <a:cubicBezTo>
                  <a:pt x="6961459" y="-24719"/>
                  <a:pt x="7228293" y="32959"/>
                  <a:pt x="7461504" y="0"/>
                </a:cubicBezTo>
                <a:cubicBezTo>
                  <a:pt x="7694715" y="-32959"/>
                  <a:pt x="7990029" y="-3422"/>
                  <a:pt x="8229600" y="0"/>
                </a:cubicBezTo>
                <a:cubicBezTo>
                  <a:pt x="8228940" y="5812"/>
                  <a:pt x="8229447" y="9773"/>
                  <a:pt x="8229600" y="18288"/>
                </a:cubicBezTo>
                <a:cubicBezTo>
                  <a:pt x="7940706" y="-9293"/>
                  <a:pt x="7792584" y="-16009"/>
                  <a:pt x="7461504" y="18288"/>
                </a:cubicBezTo>
                <a:cubicBezTo>
                  <a:pt x="7130424" y="52585"/>
                  <a:pt x="7080072" y="43845"/>
                  <a:pt x="6940296" y="18288"/>
                </a:cubicBezTo>
                <a:cubicBezTo>
                  <a:pt x="6800520" y="-7269"/>
                  <a:pt x="6672872" y="26671"/>
                  <a:pt x="6419088" y="18288"/>
                </a:cubicBezTo>
                <a:cubicBezTo>
                  <a:pt x="6165304" y="9905"/>
                  <a:pt x="5869721" y="4987"/>
                  <a:pt x="5650992" y="18288"/>
                </a:cubicBezTo>
                <a:cubicBezTo>
                  <a:pt x="5432263" y="31589"/>
                  <a:pt x="5308310" y="3023"/>
                  <a:pt x="5129784" y="18288"/>
                </a:cubicBezTo>
                <a:cubicBezTo>
                  <a:pt x="4951258" y="33553"/>
                  <a:pt x="4799696" y="15357"/>
                  <a:pt x="4690872" y="18288"/>
                </a:cubicBezTo>
                <a:cubicBezTo>
                  <a:pt x="4582048" y="21219"/>
                  <a:pt x="4311124" y="-7836"/>
                  <a:pt x="4087368" y="18288"/>
                </a:cubicBezTo>
                <a:cubicBezTo>
                  <a:pt x="3863612" y="44412"/>
                  <a:pt x="3730288" y="13374"/>
                  <a:pt x="3401568" y="18288"/>
                </a:cubicBezTo>
                <a:cubicBezTo>
                  <a:pt x="3072848" y="23202"/>
                  <a:pt x="3020684" y="32425"/>
                  <a:pt x="2798064" y="18288"/>
                </a:cubicBezTo>
                <a:cubicBezTo>
                  <a:pt x="2575444" y="4151"/>
                  <a:pt x="2440915" y="-7352"/>
                  <a:pt x="2276856" y="18288"/>
                </a:cubicBezTo>
                <a:cubicBezTo>
                  <a:pt x="2112797" y="43928"/>
                  <a:pt x="1726502" y="-9560"/>
                  <a:pt x="1426464" y="18288"/>
                </a:cubicBezTo>
                <a:cubicBezTo>
                  <a:pt x="1126426" y="46136"/>
                  <a:pt x="992925" y="21016"/>
                  <a:pt x="740664" y="18288"/>
                </a:cubicBezTo>
                <a:cubicBezTo>
                  <a:pt x="488403" y="15560"/>
                  <a:pt x="195650" y="-16061"/>
                  <a:pt x="0" y="18288"/>
                </a:cubicBezTo>
                <a:cubicBezTo>
                  <a:pt x="348" y="9455"/>
                  <a:pt x="654" y="3983"/>
                  <a:pt x="0" y="0"/>
                </a:cubicBezTo>
                <a:close/>
              </a:path>
              <a:path w="8229600" h="18288" stroke="0" extrusionOk="0">
                <a:moveTo>
                  <a:pt x="0" y="0"/>
                </a:moveTo>
                <a:cubicBezTo>
                  <a:pt x="259263" y="-9445"/>
                  <a:pt x="404731" y="4427"/>
                  <a:pt x="521208" y="0"/>
                </a:cubicBezTo>
                <a:cubicBezTo>
                  <a:pt x="637685" y="-4427"/>
                  <a:pt x="839187" y="564"/>
                  <a:pt x="960120" y="0"/>
                </a:cubicBezTo>
                <a:cubicBezTo>
                  <a:pt x="1081053" y="-564"/>
                  <a:pt x="1313469" y="-16481"/>
                  <a:pt x="1481328" y="0"/>
                </a:cubicBezTo>
                <a:cubicBezTo>
                  <a:pt x="1649187" y="16481"/>
                  <a:pt x="1885247" y="26161"/>
                  <a:pt x="2167128" y="0"/>
                </a:cubicBezTo>
                <a:cubicBezTo>
                  <a:pt x="2449009" y="-26161"/>
                  <a:pt x="2761875" y="-22202"/>
                  <a:pt x="2935224" y="0"/>
                </a:cubicBezTo>
                <a:cubicBezTo>
                  <a:pt x="3108573" y="22202"/>
                  <a:pt x="3540687" y="-2863"/>
                  <a:pt x="3785616" y="0"/>
                </a:cubicBezTo>
                <a:cubicBezTo>
                  <a:pt x="4030545" y="2863"/>
                  <a:pt x="4280774" y="-12442"/>
                  <a:pt x="4636008" y="0"/>
                </a:cubicBezTo>
                <a:cubicBezTo>
                  <a:pt x="4991242" y="12442"/>
                  <a:pt x="5025483" y="16914"/>
                  <a:pt x="5239512" y="0"/>
                </a:cubicBezTo>
                <a:cubicBezTo>
                  <a:pt x="5453541" y="-16914"/>
                  <a:pt x="5754008" y="16592"/>
                  <a:pt x="6007608" y="0"/>
                </a:cubicBezTo>
                <a:cubicBezTo>
                  <a:pt x="6261208" y="-16592"/>
                  <a:pt x="6407957" y="-11909"/>
                  <a:pt x="6693408" y="0"/>
                </a:cubicBezTo>
                <a:cubicBezTo>
                  <a:pt x="6978859" y="11909"/>
                  <a:pt x="7015437" y="-20890"/>
                  <a:pt x="7296912" y="0"/>
                </a:cubicBezTo>
                <a:cubicBezTo>
                  <a:pt x="7578387" y="20890"/>
                  <a:pt x="7859622" y="46406"/>
                  <a:pt x="8229600" y="0"/>
                </a:cubicBezTo>
                <a:cubicBezTo>
                  <a:pt x="8230508" y="6337"/>
                  <a:pt x="8228722" y="11778"/>
                  <a:pt x="8229600" y="18288"/>
                </a:cubicBezTo>
                <a:cubicBezTo>
                  <a:pt x="8075287" y="35054"/>
                  <a:pt x="7821366" y="21850"/>
                  <a:pt x="7626096" y="18288"/>
                </a:cubicBezTo>
                <a:cubicBezTo>
                  <a:pt x="7430826" y="14726"/>
                  <a:pt x="7320004" y="-9669"/>
                  <a:pt x="7022592" y="18288"/>
                </a:cubicBezTo>
                <a:cubicBezTo>
                  <a:pt x="6725180" y="46245"/>
                  <a:pt x="6348804" y="-14025"/>
                  <a:pt x="6172200" y="18288"/>
                </a:cubicBezTo>
                <a:cubicBezTo>
                  <a:pt x="5995596" y="50601"/>
                  <a:pt x="5788102" y="22890"/>
                  <a:pt x="5650992" y="18288"/>
                </a:cubicBezTo>
                <a:cubicBezTo>
                  <a:pt x="5513882" y="13686"/>
                  <a:pt x="5198399" y="29121"/>
                  <a:pt x="4882896" y="18288"/>
                </a:cubicBezTo>
                <a:cubicBezTo>
                  <a:pt x="4567393" y="7455"/>
                  <a:pt x="4557008" y="26965"/>
                  <a:pt x="4443984" y="18288"/>
                </a:cubicBezTo>
                <a:cubicBezTo>
                  <a:pt x="4330960" y="9611"/>
                  <a:pt x="4061674" y="28891"/>
                  <a:pt x="3758184" y="18288"/>
                </a:cubicBezTo>
                <a:cubicBezTo>
                  <a:pt x="3454694" y="7685"/>
                  <a:pt x="3380392" y="19119"/>
                  <a:pt x="3236976" y="18288"/>
                </a:cubicBezTo>
                <a:cubicBezTo>
                  <a:pt x="3093560" y="17457"/>
                  <a:pt x="2632116" y="37607"/>
                  <a:pt x="2386584" y="18288"/>
                </a:cubicBezTo>
                <a:cubicBezTo>
                  <a:pt x="2141052" y="-1031"/>
                  <a:pt x="2110884" y="28777"/>
                  <a:pt x="1947672" y="18288"/>
                </a:cubicBezTo>
                <a:cubicBezTo>
                  <a:pt x="1784460" y="7799"/>
                  <a:pt x="1535467" y="461"/>
                  <a:pt x="1261872" y="18288"/>
                </a:cubicBezTo>
                <a:cubicBezTo>
                  <a:pt x="988277" y="36115"/>
                  <a:pt x="1021096" y="10375"/>
                  <a:pt x="822960" y="18288"/>
                </a:cubicBezTo>
                <a:cubicBezTo>
                  <a:pt x="624824" y="26201"/>
                  <a:pt x="298309" y="1283"/>
                  <a:pt x="0" y="18288"/>
                </a:cubicBezTo>
                <a:cubicBezTo>
                  <a:pt x="-633" y="12278"/>
                  <a:pt x="-757" y="5867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9369" y="2071316"/>
            <a:ext cx="4000754" cy="4119172"/>
          </a:xfrm>
        </p:spPr>
        <p:txBody>
          <a:bodyPr anchor="t">
            <a:normAutofit/>
          </a:bodyPr>
          <a:lstStyle/>
          <a:p>
            <a:r>
              <a:rPr lang="ru-RU" sz="1900" dirty="0"/>
              <a:t>Сильнее всего с наличием банкомата связаны суммарные показатели POI: 300 м (0.50) и 500 м (0.46).</a:t>
            </a:r>
          </a:p>
          <a:p>
            <a:endParaRPr lang="ru-RU" sz="1900" dirty="0"/>
          </a:p>
          <a:p>
            <a:r>
              <a:rPr lang="ru-RU" sz="1900" dirty="0"/>
              <a:t>Дополнительно заметный сигнал дают аптеки, кафе и магазины (0.36–0.38).</a:t>
            </a:r>
          </a:p>
          <a:p>
            <a:endParaRPr lang="ru-RU" sz="1900" dirty="0"/>
          </a:p>
          <a:p>
            <a:r>
              <a:rPr lang="ru-RU" sz="1900" dirty="0"/>
              <a:t>Остановки и рестораны показывают более слабую, но стабильную зависимость.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42BADA4-12C4-3CDB-5235-4EC67FE5063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280"/>
          <a:stretch>
            <a:fillRect/>
          </a:stretch>
        </p:blipFill>
        <p:spPr bwMode="auto">
          <a:xfrm>
            <a:off x="4838446" y="1911493"/>
            <a:ext cx="4000754" cy="4103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78598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38" name="Rectangle 5134">
            <a:extLst>
              <a:ext uri="{FF2B5EF4-FFF2-40B4-BE49-F238E27FC236}">
                <a16:creationId xmlns:a16="http://schemas.microsoft.com/office/drawing/2014/main" id="{69D47016-023F-44BD-981C-50E7A10A66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457200"/>
            <a:ext cx="3257550" cy="1929384"/>
          </a:xfrm>
        </p:spPr>
        <p:txBody>
          <a:bodyPr anchor="ctr">
            <a:normAutofit/>
          </a:bodyPr>
          <a:lstStyle/>
          <a:p>
            <a:r>
              <a:rPr lang="ru-RU" sz="3300" dirty="0"/>
              <a:t>Результаты моделирования — метрики</a:t>
            </a:r>
          </a:p>
        </p:txBody>
      </p:sp>
      <p:sp>
        <p:nvSpPr>
          <p:cNvPr id="5137" name="sketchy line">
            <a:extLst>
              <a:ext uri="{FF2B5EF4-FFF2-40B4-BE49-F238E27FC236}">
                <a16:creationId xmlns:a16="http://schemas.microsoft.com/office/drawing/2014/main" id="{6D8B37B0-0682-433E-BC8D-498C04ABD9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159251" y="1415034"/>
            <a:ext cx="1554480" cy="13716"/>
          </a:xfrm>
          <a:custGeom>
            <a:avLst/>
            <a:gdLst>
              <a:gd name="connsiteX0" fmla="*/ 0 w 1554480"/>
              <a:gd name="connsiteY0" fmla="*/ 0 h 13716"/>
              <a:gd name="connsiteX1" fmla="*/ 549250 w 1554480"/>
              <a:gd name="connsiteY1" fmla="*/ 0 h 13716"/>
              <a:gd name="connsiteX2" fmla="*/ 1082954 w 1554480"/>
              <a:gd name="connsiteY2" fmla="*/ 0 h 13716"/>
              <a:gd name="connsiteX3" fmla="*/ 1554480 w 1554480"/>
              <a:gd name="connsiteY3" fmla="*/ 0 h 13716"/>
              <a:gd name="connsiteX4" fmla="*/ 1554480 w 1554480"/>
              <a:gd name="connsiteY4" fmla="*/ 13716 h 13716"/>
              <a:gd name="connsiteX5" fmla="*/ 1067410 w 1554480"/>
              <a:gd name="connsiteY5" fmla="*/ 13716 h 13716"/>
              <a:gd name="connsiteX6" fmla="*/ 549250 w 1554480"/>
              <a:gd name="connsiteY6" fmla="*/ 13716 h 13716"/>
              <a:gd name="connsiteX7" fmla="*/ 0 w 1554480"/>
              <a:gd name="connsiteY7" fmla="*/ 13716 h 13716"/>
              <a:gd name="connsiteX8" fmla="*/ 0 w 1554480"/>
              <a:gd name="connsiteY8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3716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3820" y="4959"/>
                  <a:pt x="1554594" y="10798"/>
                  <a:pt x="1554480" y="13716"/>
                </a:cubicBezTo>
                <a:cubicBezTo>
                  <a:pt x="1338847" y="1555"/>
                  <a:pt x="1215066" y="33279"/>
                  <a:pt x="1067410" y="13716"/>
                </a:cubicBezTo>
                <a:cubicBezTo>
                  <a:pt x="919754" y="-5847"/>
                  <a:pt x="800465" y="-1492"/>
                  <a:pt x="549250" y="13716"/>
                </a:cubicBezTo>
                <a:cubicBezTo>
                  <a:pt x="298035" y="28924"/>
                  <a:pt x="158868" y="18197"/>
                  <a:pt x="0" y="13716"/>
                </a:cubicBezTo>
                <a:cubicBezTo>
                  <a:pt x="488" y="8630"/>
                  <a:pt x="480" y="6612"/>
                  <a:pt x="0" y="0"/>
                </a:cubicBezTo>
                <a:close/>
              </a:path>
              <a:path w="1554480" h="13716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232" y="4157"/>
                  <a:pt x="1554673" y="7559"/>
                  <a:pt x="1554480" y="13716"/>
                </a:cubicBezTo>
                <a:cubicBezTo>
                  <a:pt x="1336087" y="7600"/>
                  <a:pt x="1310024" y="15187"/>
                  <a:pt x="1067410" y="13716"/>
                </a:cubicBezTo>
                <a:cubicBezTo>
                  <a:pt x="824796" y="12246"/>
                  <a:pt x="787902" y="30075"/>
                  <a:pt x="518160" y="13716"/>
                </a:cubicBezTo>
                <a:cubicBezTo>
                  <a:pt x="248418" y="-2643"/>
                  <a:pt x="133160" y="4633"/>
                  <a:pt x="0" y="13716"/>
                </a:cubicBezTo>
                <a:cubicBezTo>
                  <a:pt x="43" y="9160"/>
                  <a:pt x="-111" y="481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55947" y="457200"/>
            <a:ext cx="4505706" cy="1929384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ru-RU" sz="1300"/>
              <a:t>Сравнение четырёх моделей на отложенной выборке.</a:t>
            </a:r>
          </a:p>
          <a:p>
            <a:pPr>
              <a:lnSpc>
                <a:spcPct val="90000"/>
              </a:lnSpc>
            </a:pPr>
            <a:r>
              <a:rPr lang="ru-RU" sz="1300"/>
              <a:t>CatBoost — лучший Recall (0.754) и высокий ROC-AUC (0.868).</a:t>
            </a:r>
          </a:p>
          <a:p>
            <a:pPr>
              <a:lnSpc>
                <a:spcPct val="90000"/>
              </a:lnSpc>
            </a:pPr>
            <a:r>
              <a:rPr lang="ru-RU" sz="1300"/>
              <a:t>Random Forest — лучший Precision (0.613) и PR-AUC (0.557).</a:t>
            </a:r>
          </a:p>
          <a:p>
            <a:pPr>
              <a:lnSpc>
                <a:spcPct val="90000"/>
              </a:lnSpc>
            </a:pPr>
            <a:r>
              <a:rPr lang="ru-RU" sz="1300"/>
              <a:t>Выбор метрик зависит от бизнес-приоритета: покрытие перспективных точек или точность предсказаний.</a:t>
            </a:r>
          </a:p>
        </p:txBody>
      </p:sp>
      <p:pic>
        <p:nvPicPr>
          <p:cNvPr id="2051" name="Picture 3">
            <a:extLst>
              <a:ext uri="{FF2B5EF4-FFF2-40B4-BE49-F238E27FC236}">
                <a16:creationId xmlns:a16="http://schemas.microsoft.com/office/drawing/2014/main" id="{9CDA9F83-0C0F-B5E5-98DF-A9EAEC83AE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34694" y="3132469"/>
            <a:ext cx="4101084" cy="255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4A19A029-662A-10B1-9EB1-632C986779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2837800"/>
              </p:ext>
            </p:extLst>
          </p:nvPr>
        </p:nvGraphicFramePr>
        <p:xfrm>
          <a:off x="4485894" y="3364159"/>
          <a:ext cx="4505704" cy="2284555"/>
        </p:xfrm>
        <a:graphic>
          <a:graphicData uri="http://schemas.openxmlformats.org/drawingml/2006/table">
            <a:tbl>
              <a:tblPr firstRow="1" bandRow="1">
                <a:solidFill>
                  <a:schemeClr val="bg1">
                    <a:lumMod val="95000"/>
                  </a:schemeClr>
                </a:solidFill>
              </a:tblPr>
              <a:tblGrid>
                <a:gridCol w="759124">
                  <a:extLst>
                    <a:ext uri="{9D8B030D-6E8A-4147-A177-3AD203B41FA5}">
                      <a16:colId xmlns:a16="http://schemas.microsoft.com/office/drawing/2014/main" val="1576469004"/>
                    </a:ext>
                  </a:extLst>
                </a:gridCol>
                <a:gridCol w="624430">
                  <a:extLst>
                    <a:ext uri="{9D8B030D-6E8A-4147-A177-3AD203B41FA5}">
                      <a16:colId xmlns:a16="http://schemas.microsoft.com/office/drawing/2014/main" val="686643240"/>
                    </a:ext>
                  </a:extLst>
                </a:gridCol>
                <a:gridCol w="624430">
                  <a:extLst>
                    <a:ext uri="{9D8B030D-6E8A-4147-A177-3AD203B41FA5}">
                      <a16:colId xmlns:a16="http://schemas.microsoft.com/office/drawing/2014/main" val="3449713388"/>
                    </a:ext>
                  </a:extLst>
                </a:gridCol>
                <a:gridCol w="624430">
                  <a:extLst>
                    <a:ext uri="{9D8B030D-6E8A-4147-A177-3AD203B41FA5}">
                      <a16:colId xmlns:a16="http://schemas.microsoft.com/office/drawing/2014/main" val="329478297"/>
                    </a:ext>
                  </a:extLst>
                </a:gridCol>
                <a:gridCol w="624430">
                  <a:extLst>
                    <a:ext uri="{9D8B030D-6E8A-4147-A177-3AD203B41FA5}">
                      <a16:colId xmlns:a16="http://schemas.microsoft.com/office/drawing/2014/main" val="3416278124"/>
                    </a:ext>
                  </a:extLst>
                </a:gridCol>
                <a:gridCol w="624430">
                  <a:extLst>
                    <a:ext uri="{9D8B030D-6E8A-4147-A177-3AD203B41FA5}">
                      <a16:colId xmlns:a16="http://schemas.microsoft.com/office/drawing/2014/main" val="3120371907"/>
                    </a:ext>
                  </a:extLst>
                </a:gridCol>
                <a:gridCol w="624430">
                  <a:extLst>
                    <a:ext uri="{9D8B030D-6E8A-4147-A177-3AD203B41FA5}">
                      <a16:colId xmlns:a16="http://schemas.microsoft.com/office/drawing/2014/main" val="3680099025"/>
                    </a:ext>
                  </a:extLst>
                </a:gridCol>
              </a:tblGrid>
              <a:tr h="5324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3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Модель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3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Accuracy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3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3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Recall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3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F1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3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ROC-AUC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3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PR-AUC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1872029"/>
                  </a:ext>
                </a:extLst>
              </a:tr>
              <a:tr h="392313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1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Logistic Regression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0.833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0.444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0.695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0.541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0.876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0.578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646044"/>
                  </a:ext>
                </a:extLst>
              </a:tr>
              <a:tr h="392313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1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Decision Tree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0.763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0.351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0.786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0.486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0.843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0.449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795924"/>
                  </a:ext>
                </a:extLst>
              </a:tr>
              <a:tr h="392313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1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Random Forest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0.879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0.613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0.408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0.490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0.833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0.557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5397549"/>
                  </a:ext>
                </a:extLst>
              </a:tr>
              <a:tr h="392313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1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CatBoost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0.802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0.397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0.754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0.521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0.868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1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0.536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05129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0"/>
            <a:ext cx="8375586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196" y="0"/>
            <a:ext cx="836676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6676" y="548640"/>
            <a:ext cx="7626096" cy="1179576"/>
          </a:xfrm>
        </p:spPr>
        <p:txBody>
          <a:bodyPr>
            <a:normAutofit/>
          </a:bodyPr>
          <a:lstStyle/>
          <a:p>
            <a:r>
              <a:rPr lang="en-US" sz="3500" dirty="0"/>
              <a:t>ML: </a:t>
            </a:r>
            <a:r>
              <a:rPr lang="ru-RU" sz="3500" dirty="0"/>
              <a:t>выводы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758952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76" y="2481943"/>
            <a:ext cx="7626096" cy="3695020"/>
          </a:xfrm>
        </p:spPr>
        <p:txBody>
          <a:bodyPr>
            <a:normAutofit fontScale="85000" lnSpcReduction="10000"/>
          </a:bodyPr>
          <a:lstStyle/>
          <a:p>
            <a:r>
              <a:rPr lang="ru-RU" sz="1900" dirty="0"/>
              <a:t>Протестированы 4 модели:</a:t>
            </a:r>
          </a:p>
          <a:p>
            <a:r>
              <a:rPr lang="ru-RU" sz="1900" dirty="0"/>
              <a:t>• </a:t>
            </a:r>
            <a:r>
              <a:rPr lang="en-US" sz="1900" dirty="0"/>
              <a:t>Logistic Regression — </a:t>
            </a:r>
            <a:r>
              <a:rPr lang="ru-RU" sz="1900" dirty="0"/>
              <a:t>сбалансированная, но с низкой точностью.</a:t>
            </a:r>
          </a:p>
          <a:p>
            <a:r>
              <a:rPr lang="ru-RU" sz="1900" dirty="0"/>
              <a:t>• </a:t>
            </a:r>
            <a:r>
              <a:rPr lang="en-US" sz="1900" dirty="0"/>
              <a:t>Decision Tree — </a:t>
            </a:r>
            <a:r>
              <a:rPr lang="ru-RU" sz="1900" dirty="0"/>
              <a:t>простая, повышает </a:t>
            </a:r>
            <a:r>
              <a:rPr lang="en-US" sz="1900" dirty="0"/>
              <a:t>Recall, </a:t>
            </a:r>
            <a:r>
              <a:rPr lang="ru-RU" sz="1900" dirty="0"/>
              <a:t>но менее устойчива.</a:t>
            </a:r>
          </a:p>
          <a:p>
            <a:r>
              <a:rPr lang="ru-RU" sz="1900" dirty="0"/>
              <a:t>• </a:t>
            </a:r>
            <a:r>
              <a:rPr lang="en-US" sz="1900" dirty="0"/>
              <a:t>Random Forest — </a:t>
            </a:r>
            <a:r>
              <a:rPr lang="ru-RU" sz="1900" dirty="0"/>
              <a:t>лучшая точность и </a:t>
            </a:r>
            <a:r>
              <a:rPr lang="en-US" sz="1900" dirty="0"/>
              <a:t>Accuracy, </a:t>
            </a:r>
            <a:r>
              <a:rPr lang="ru-RU" sz="1900" dirty="0"/>
              <a:t>но низкий </a:t>
            </a:r>
            <a:r>
              <a:rPr lang="en-US" sz="1900" dirty="0"/>
              <a:t>Recall.</a:t>
            </a:r>
          </a:p>
          <a:p>
            <a:r>
              <a:rPr lang="en-US" sz="1900" dirty="0"/>
              <a:t>• CatBoost — </a:t>
            </a:r>
            <a:r>
              <a:rPr lang="ru-RU" sz="1900" dirty="0"/>
              <a:t>лучший </a:t>
            </a:r>
            <a:r>
              <a:rPr lang="en-US" sz="1900" dirty="0"/>
              <a:t>Recall </a:t>
            </a:r>
            <a:r>
              <a:rPr lang="ru-RU" sz="1900" dirty="0"/>
              <a:t>и </a:t>
            </a:r>
            <a:r>
              <a:rPr lang="en-US" sz="1900" dirty="0"/>
              <a:t>ROC-AUC, </a:t>
            </a:r>
            <a:r>
              <a:rPr lang="ru-RU" sz="1900" dirty="0"/>
              <a:t>хорошо находит перспективные точки.</a:t>
            </a:r>
          </a:p>
          <a:p>
            <a:endParaRPr lang="ru-RU" sz="1900" dirty="0"/>
          </a:p>
          <a:p>
            <a:r>
              <a:rPr lang="ru-RU" sz="1900" dirty="0"/>
              <a:t>Выбор модели зависит от приоритета:</a:t>
            </a:r>
          </a:p>
          <a:p>
            <a:r>
              <a:rPr lang="ru-RU" sz="1900" dirty="0"/>
              <a:t>• интерпретация — </a:t>
            </a:r>
            <a:r>
              <a:rPr lang="en-US" sz="1900" dirty="0"/>
              <a:t>Logistic Regression / Decision Tree;</a:t>
            </a:r>
          </a:p>
          <a:p>
            <a:r>
              <a:rPr lang="en-US" sz="1900" dirty="0"/>
              <a:t>• </a:t>
            </a:r>
            <a:r>
              <a:rPr lang="ru-RU" sz="1900" dirty="0"/>
              <a:t>высокая точность — </a:t>
            </a:r>
            <a:r>
              <a:rPr lang="en-US" sz="1900" dirty="0"/>
              <a:t>Random Forest;</a:t>
            </a:r>
          </a:p>
          <a:p>
            <a:r>
              <a:rPr lang="en-US" sz="1900" dirty="0"/>
              <a:t>• </a:t>
            </a:r>
            <a:r>
              <a:rPr lang="ru-RU" sz="1900" dirty="0"/>
              <a:t>максимальный охват — </a:t>
            </a:r>
            <a:r>
              <a:rPr lang="en-US" sz="1900" dirty="0"/>
              <a:t>CatBoost.</a:t>
            </a:r>
          </a:p>
          <a:p>
            <a:endParaRPr lang="en-US" sz="1900" dirty="0"/>
          </a:p>
          <a:p>
            <a:r>
              <a:rPr lang="ru-RU" sz="1900" dirty="0"/>
              <a:t>Итог: насыщенность инфраструктурой (</a:t>
            </a:r>
            <a:r>
              <a:rPr lang="en-US" sz="1900" dirty="0"/>
              <a:t>POI, </a:t>
            </a:r>
            <a:r>
              <a:rPr lang="ru-RU" sz="1900" dirty="0"/>
              <a:t>аптеки, магазины, остановки) — ключевой фактор размещения банкоматов.</a:t>
            </a:r>
          </a:p>
        </p:txBody>
      </p:sp>
    </p:spTree>
    <p:extLst>
      <p:ext uri="{BB962C8B-B14F-4D97-AF65-F5344CB8AC3E}">
        <p14:creationId xmlns:p14="http://schemas.microsoft.com/office/powerpoint/2010/main" val="5990640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55" name="Rectangle 615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ru-RU" sz="4300"/>
              <a:t>Визуализации и аналитика</a:t>
            </a:r>
          </a:p>
        </p:txBody>
      </p:sp>
      <p:sp>
        <p:nvSpPr>
          <p:cNvPr id="6156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onnsiteX0" fmla="*/ 0 w 2441321"/>
              <a:gd name="connsiteY0" fmla="*/ 0 h 18288"/>
              <a:gd name="connsiteX1" fmla="*/ 585917 w 2441321"/>
              <a:gd name="connsiteY1" fmla="*/ 0 h 18288"/>
              <a:gd name="connsiteX2" fmla="*/ 1196247 w 2441321"/>
              <a:gd name="connsiteY2" fmla="*/ 0 h 18288"/>
              <a:gd name="connsiteX3" fmla="*/ 1806578 w 2441321"/>
              <a:gd name="connsiteY3" fmla="*/ 0 h 18288"/>
              <a:gd name="connsiteX4" fmla="*/ 2441321 w 2441321"/>
              <a:gd name="connsiteY4" fmla="*/ 0 h 18288"/>
              <a:gd name="connsiteX5" fmla="*/ 2441321 w 2441321"/>
              <a:gd name="connsiteY5" fmla="*/ 18288 h 18288"/>
              <a:gd name="connsiteX6" fmla="*/ 1830991 w 2441321"/>
              <a:gd name="connsiteY6" fmla="*/ 18288 h 18288"/>
              <a:gd name="connsiteX7" fmla="*/ 1269487 w 2441321"/>
              <a:gd name="connsiteY7" fmla="*/ 18288 h 18288"/>
              <a:gd name="connsiteX8" fmla="*/ 707983 w 2441321"/>
              <a:gd name="connsiteY8" fmla="*/ 18288 h 18288"/>
              <a:gd name="connsiteX9" fmla="*/ 0 w 2441321"/>
              <a:gd name="connsiteY9" fmla="*/ 18288 h 18288"/>
              <a:gd name="connsiteX10" fmla="*/ 0 w 2441321"/>
              <a:gd name="connsiteY10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660904"/>
            <a:ext cx="3614166" cy="3547872"/>
          </a:xfrm>
        </p:spPr>
        <p:txBody>
          <a:bodyPr anchor="t">
            <a:normAutofit lnSpcReduction="10000"/>
          </a:bodyPr>
          <a:lstStyle/>
          <a:p>
            <a:r>
              <a:rPr lang="ru-RU" sz="1900" dirty="0"/>
              <a:t>На карте Москвы показаны предсказанные вероятности наличия банкомата (CatBoost).</a:t>
            </a:r>
          </a:p>
          <a:p>
            <a:r>
              <a:rPr lang="ru-RU" sz="1900" dirty="0"/>
              <a:t>Тёмные зоны соответствуют районам с высокой вероятностью — в основном центр и крупные транспортные узлы.</a:t>
            </a:r>
          </a:p>
          <a:p>
            <a:r>
              <a:rPr lang="ru-RU" sz="1900" dirty="0"/>
              <a:t>Светлые зоны отражают низкую вероятность, то есть «пустые» или жилые районы.</a:t>
            </a:r>
          </a:p>
          <a:p>
            <a:pPr marL="0" indent="0">
              <a:buNone/>
            </a:pPr>
            <a:endParaRPr lang="ru-RU" sz="190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CB58EE3-7863-9453-208C-F24003AA2D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560570" y="1210006"/>
            <a:ext cx="4540408" cy="4962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92250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0"/>
            <a:ext cx="8375586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196" y="0"/>
            <a:ext cx="836676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6676" y="548640"/>
            <a:ext cx="7626096" cy="1179576"/>
          </a:xfrm>
        </p:spPr>
        <p:txBody>
          <a:bodyPr>
            <a:normAutofit/>
          </a:bodyPr>
          <a:lstStyle/>
          <a:p>
            <a:r>
              <a:rPr lang="ru-RU" sz="3500"/>
              <a:t>Заключение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758952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76" y="2481943"/>
            <a:ext cx="7626096" cy="3695020"/>
          </a:xfrm>
        </p:spPr>
        <p:txBody>
          <a:bodyPr>
            <a:normAutofit/>
          </a:bodyPr>
          <a:lstStyle/>
          <a:p>
            <a:r>
              <a:rPr lang="ru-RU" sz="1900" dirty="0"/>
              <a:t>Подтверждена связь инфраструктуры и наличия банкоматов; признаки адекватны.</a:t>
            </a:r>
          </a:p>
          <a:p>
            <a:r>
              <a:rPr lang="ru-RU" sz="1900" dirty="0"/>
              <a:t>Модели дают пригодное ранжирование: CatBoost — максимум </a:t>
            </a:r>
            <a:r>
              <a:rPr lang="ru-RU" sz="1900" dirty="0" err="1"/>
              <a:t>Recall</a:t>
            </a:r>
            <a:r>
              <a:rPr lang="ru-RU" sz="1900" dirty="0"/>
              <a:t>/ROC-AUC, RF — Precision/PR-AUC.</a:t>
            </a:r>
          </a:p>
          <a:p>
            <a:r>
              <a:rPr lang="ru-RU" sz="1900" dirty="0"/>
              <a:t>Карта показывает кластеры у транспорта; анти-топы — зоны для пилотов.</a:t>
            </a:r>
          </a:p>
          <a:p>
            <a:r>
              <a:rPr lang="ru-RU" sz="1900" dirty="0"/>
              <a:t>Дальнейшее развитие: новые источники (население, пассажиропотоки), дообучение, интерактивный дашборд.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490</TotalTime>
  <Words>1022</Words>
  <Application>Microsoft Office PowerPoint</Application>
  <PresentationFormat>Экран (4:3)</PresentationFormat>
  <Paragraphs>159</Paragraphs>
  <Slides>17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Roboto</vt:lpstr>
      <vt:lpstr>Office Theme</vt:lpstr>
      <vt:lpstr>Презентация PowerPoint</vt:lpstr>
      <vt:lpstr>Определение перспективных локаций для банкоматов с применением ML (на примере Москвы)</vt:lpstr>
      <vt:lpstr>Ценность задачи</vt:lpstr>
      <vt:lpstr>Постановка задачи</vt:lpstr>
      <vt:lpstr>Данные и источники</vt:lpstr>
      <vt:lpstr>Инструменты и библиотеки</vt:lpstr>
      <vt:lpstr>Методология: подготовка геоданных</vt:lpstr>
      <vt:lpstr>Сетка кандидатов и целевая переменная</vt:lpstr>
      <vt:lpstr>Признаки (feature engineering)</vt:lpstr>
      <vt:lpstr>Районы Москвы по плотности ATM</vt:lpstr>
      <vt:lpstr>Модели для обучения</vt:lpstr>
      <vt:lpstr>Метрики оценки качества моделей</vt:lpstr>
      <vt:lpstr>Матрица распределения признаков </vt:lpstr>
      <vt:lpstr>Результаты моделирования — метрики</vt:lpstr>
      <vt:lpstr>ML: выводы</vt:lpstr>
      <vt:lpstr>Визуализации и аналитика</vt:lpstr>
      <vt:lpstr>Заключение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Гурский Антон Анатольевич</dc:creator>
  <cp:keywords/>
  <dc:description>generated using python-pptx</dc:description>
  <cp:lastModifiedBy>Автор1</cp:lastModifiedBy>
  <cp:revision>13</cp:revision>
  <dcterms:created xsi:type="dcterms:W3CDTF">2013-01-27T09:14:16Z</dcterms:created>
  <dcterms:modified xsi:type="dcterms:W3CDTF">2025-10-03T08:49:39Z</dcterms:modified>
  <cp:category/>
</cp:coreProperties>
</file>